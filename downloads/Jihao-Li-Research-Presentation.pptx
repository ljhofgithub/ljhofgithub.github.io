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1" r:id="rId3"/>
    <p:sldId id="262" r:id="rId4"/>
    <p:sldId id="266" r:id="rId5"/>
    <p:sldId id="267" r:id="rId6"/>
    <p:sldId id="277" r:id="rId7"/>
    <p:sldId id="287" r:id="rId8"/>
    <p:sldId id="288" r:id="rId9"/>
    <p:sldId id="289" r:id="rId10"/>
    <p:sldId id="281" r:id="rId11"/>
    <p:sldId id="268" r:id="rId12"/>
    <p:sldId id="278" r:id="rId13"/>
    <p:sldId id="282" r:id="rId14"/>
    <p:sldId id="290" r:id="rId15"/>
    <p:sldId id="269" r:id="rId16"/>
    <p:sldId id="270" r:id="rId17"/>
    <p:sldId id="279" r:id="rId18"/>
    <p:sldId id="271" r:id="rId19"/>
    <p:sldId id="280" r:id="rId20"/>
    <p:sldId id="283" r:id="rId21"/>
    <p:sldId id="284" r:id="rId22"/>
    <p:sldId id="263" r:id="rId23"/>
    <p:sldId id="264" r:id="rId24"/>
    <p:sldId id="285" r:id="rId25"/>
    <p:sldId id="286" r:id="rId26"/>
    <p:sldId id="276" r:id="rId27"/>
    <p:sldId id="265" r:id="rId28"/>
    <p:sldId id="272" r:id="rId29"/>
    <p:sldId id="273" r:id="rId30"/>
    <p:sldId id="274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42" autoAdjust="0"/>
    <p:restoredTop sz="73253" autoAdjust="0"/>
  </p:normalViewPr>
  <p:slideViewPr>
    <p:cSldViewPr snapToGrid="0">
      <p:cViewPr>
        <p:scale>
          <a:sx n="66" d="100"/>
          <a:sy n="66" d="100"/>
        </p:scale>
        <p:origin x="15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DE3A91-CF9E-44F4-9359-28F59F7C42F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1A9323F-53C0-42D1-8D7D-9F565AFA9461}">
      <dgm:prSet/>
      <dgm:spPr/>
      <dgm:t>
        <a:bodyPr/>
        <a:lstStyle/>
        <a:p>
          <a:r>
            <a:rPr lang="zh-CN" b="1"/>
            <a:t>论文题目：</a:t>
          </a:r>
          <a:r>
            <a:rPr lang="zh-CN"/>
            <a:t> </a:t>
          </a:r>
          <a:r>
            <a:rPr lang="en-US"/>
            <a:t>WAVEU3S: A Lightweight Wavelet Dual-Attention UNet for 3D Medical Image Segmentation</a:t>
          </a:r>
          <a:br>
            <a:rPr lang="en-US"/>
          </a:br>
          <a:r>
            <a:rPr lang="zh-CN" b="1"/>
            <a:t>核心创新：</a:t>
          </a:r>
          <a:endParaRPr lang="en-US"/>
        </a:p>
      </dgm:t>
    </dgm:pt>
    <dgm:pt modelId="{B0FA230A-E3B2-4DB8-A147-AC4F258F4F81}" type="parTrans" cxnId="{B74126B1-9F03-42BA-8BBD-48A3E9E8CCDF}">
      <dgm:prSet/>
      <dgm:spPr/>
      <dgm:t>
        <a:bodyPr/>
        <a:lstStyle/>
        <a:p>
          <a:endParaRPr lang="en-US"/>
        </a:p>
      </dgm:t>
    </dgm:pt>
    <dgm:pt modelId="{B5C00097-5E07-4165-AC6F-BE93F240120D}" type="sibTrans" cxnId="{B74126B1-9F03-42BA-8BBD-48A3E9E8CCDF}">
      <dgm:prSet/>
      <dgm:spPr/>
      <dgm:t>
        <a:bodyPr/>
        <a:lstStyle/>
        <a:p>
          <a:endParaRPr lang="en-US"/>
        </a:p>
      </dgm:t>
    </dgm:pt>
    <dgm:pt modelId="{C26EEAE9-8AB6-4B55-B596-40EA4D4A1197}">
      <dgm:prSet/>
      <dgm:spPr/>
      <dgm:t>
        <a:bodyPr/>
        <a:lstStyle/>
        <a:p>
          <a:r>
            <a:rPr lang="en-US"/>
            <a:t>3D</a:t>
          </a:r>
          <a:r>
            <a:rPr lang="zh-CN"/>
            <a:t>小波变换无损压缩空间分辨率</a:t>
          </a:r>
          <a:endParaRPr lang="en-US"/>
        </a:p>
      </dgm:t>
    </dgm:pt>
    <dgm:pt modelId="{40F8E8F5-EFF8-4B36-B461-B6967F4659F4}" type="parTrans" cxnId="{0A2C01D2-8747-47AB-BE43-068AECF2FDD1}">
      <dgm:prSet/>
      <dgm:spPr/>
      <dgm:t>
        <a:bodyPr/>
        <a:lstStyle/>
        <a:p>
          <a:endParaRPr lang="en-US"/>
        </a:p>
      </dgm:t>
    </dgm:pt>
    <dgm:pt modelId="{D7248BE0-78DE-417B-B20D-FF5DAE915942}" type="sibTrans" cxnId="{0A2C01D2-8747-47AB-BE43-068AECF2FDD1}">
      <dgm:prSet/>
      <dgm:spPr/>
      <dgm:t>
        <a:bodyPr/>
        <a:lstStyle/>
        <a:p>
          <a:endParaRPr lang="en-US"/>
        </a:p>
      </dgm:t>
    </dgm:pt>
    <dgm:pt modelId="{C88ED9C7-B7DF-4BFE-BB9F-97A133E979C5}">
      <dgm:prSet/>
      <dgm:spPr/>
      <dgm:t>
        <a:bodyPr/>
        <a:lstStyle/>
        <a:p>
          <a:r>
            <a:rPr lang="zh-CN"/>
            <a:t>双注意力机制（空间</a:t>
          </a:r>
          <a:r>
            <a:rPr lang="en-US"/>
            <a:t>+</a:t>
          </a:r>
          <a:r>
            <a:rPr lang="zh-CN"/>
            <a:t>通道）提升特征表达</a:t>
          </a:r>
          <a:endParaRPr lang="en-US"/>
        </a:p>
      </dgm:t>
    </dgm:pt>
    <dgm:pt modelId="{BA83E7DB-2C87-46D9-9FBB-69493F43B0FE}" type="parTrans" cxnId="{45A64E4D-9E92-48B5-8D4C-D973D59BDD8B}">
      <dgm:prSet/>
      <dgm:spPr/>
      <dgm:t>
        <a:bodyPr/>
        <a:lstStyle/>
        <a:p>
          <a:endParaRPr lang="en-US"/>
        </a:p>
      </dgm:t>
    </dgm:pt>
    <dgm:pt modelId="{EF6F85EB-5DC2-47D3-B2E5-B4E42199AA36}" type="sibTrans" cxnId="{45A64E4D-9E92-48B5-8D4C-D973D59BDD8B}">
      <dgm:prSet/>
      <dgm:spPr/>
      <dgm:t>
        <a:bodyPr/>
        <a:lstStyle/>
        <a:p>
          <a:endParaRPr lang="en-US"/>
        </a:p>
      </dgm:t>
    </dgm:pt>
    <dgm:pt modelId="{756A2AB8-E2BA-42DC-8163-1DC96C670077}">
      <dgm:prSet/>
      <dgm:spPr/>
      <dgm:t>
        <a:bodyPr/>
        <a:lstStyle/>
        <a:p>
          <a:r>
            <a:rPr lang="zh-CN"/>
            <a:t>轻量高效，适合资源受限场景</a:t>
          </a:r>
          <a:endParaRPr lang="en-US"/>
        </a:p>
      </dgm:t>
    </dgm:pt>
    <dgm:pt modelId="{09F73230-8540-4987-B51A-3305F13EA9C2}" type="parTrans" cxnId="{FFC28269-97C1-4909-9765-475759BE5CA3}">
      <dgm:prSet/>
      <dgm:spPr/>
      <dgm:t>
        <a:bodyPr/>
        <a:lstStyle/>
        <a:p>
          <a:endParaRPr lang="en-US"/>
        </a:p>
      </dgm:t>
    </dgm:pt>
    <dgm:pt modelId="{E57987FB-F28C-44A9-854E-D7197B32008F}" type="sibTrans" cxnId="{FFC28269-97C1-4909-9765-475759BE5CA3}">
      <dgm:prSet/>
      <dgm:spPr/>
      <dgm:t>
        <a:bodyPr/>
        <a:lstStyle/>
        <a:p>
          <a:endParaRPr lang="en-US"/>
        </a:p>
      </dgm:t>
    </dgm:pt>
    <dgm:pt modelId="{EB718CB2-1659-4212-9093-885E3F47001C}" type="pres">
      <dgm:prSet presAssocID="{51DE3A91-CF9E-44F4-9359-28F59F7C42FD}" presName="linear" presStyleCnt="0">
        <dgm:presLayoutVars>
          <dgm:animLvl val="lvl"/>
          <dgm:resizeHandles val="exact"/>
        </dgm:presLayoutVars>
      </dgm:prSet>
      <dgm:spPr/>
    </dgm:pt>
    <dgm:pt modelId="{1DB35979-7C58-4E1B-854F-D46EFE8E5DB8}" type="pres">
      <dgm:prSet presAssocID="{E1A9323F-53C0-42D1-8D7D-9F565AFA94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6DA6FD6-3F55-45E4-800C-D5162946BE36}" type="pres">
      <dgm:prSet presAssocID="{B5C00097-5E07-4165-AC6F-BE93F240120D}" presName="spacer" presStyleCnt="0"/>
      <dgm:spPr/>
    </dgm:pt>
    <dgm:pt modelId="{05B166A6-A7DB-4CFF-87BE-4C474B387918}" type="pres">
      <dgm:prSet presAssocID="{C26EEAE9-8AB6-4B55-B596-40EA4D4A119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846EB2-34EE-47FD-80F2-B598E9A5F59D}" type="pres">
      <dgm:prSet presAssocID="{D7248BE0-78DE-417B-B20D-FF5DAE915942}" presName="spacer" presStyleCnt="0"/>
      <dgm:spPr/>
    </dgm:pt>
    <dgm:pt modelId="{5FB2C8A1-DDCA-4D29-BA8E-47D85A217E41}" type="pres">
      <dgm:prSet presAssocID="{C88ED9C7-B7DF-4BFE-BB9F-97A133E979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018374-9D1C-4E5D-A65E-784E89D65AA0}" type="pres">
      <dgm:prSet presAssocID="{EF6F85EB-5DC2-47D3-B2E5-B4E42199AA36}" presName="spacer" presStyleCnt="0"/>
      <dgm:spPr/>
    </dgm:pt>
    <dgm:pt modelId="{EB325475-D8F3-4547-85C0-0FB40AD2EC62}" type="pres">
      <dgm:prSet presAssocID="{756A2AB8-E2BA-42DC-8163-1DC96C67007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DBC024-24F3-463F-AB98-382A4D1002D9}" type="presOf" srcId="{756A2AB8-E2BA-42DC-8163-1DC96C670077}" destId="{EB325475-D8F3-4547-85C0-0FB40AD2EC62}" srcOrd="0" destOrd="0" presId="urn:microsoft.com/office/officeart/2005/8/layout/vList2"/>
    <dgm:cxn modelId="{CA122349-929C-4F66-8AC5-D9666FCED196}" type="presOf" srcId="{E1A9323F-53C0-42D1-8D7D-9F565AFA9461}" destId="{1DB35979-7C58-4E1B-854F-D46EFE8E5DB8}" srcOrd="0" destOrd="0" presId="urn:microsoft.com/office/officeart/2005/8/layout/vList2"/>
    <dgm:cxn modelId="{FFC28269-97C1-4909-9765-475759BE5CA3}" srcId="{51DE3A91-CF9E-44F4-9359-28F59F7C42FD}" destId="{756A2AB8-E2BA-42DC-8163-1DC96C670077}" srcOrd="3" destOrd="0" parTransId="{09F73230-8540-4987-B51A-3305F13EA9C2}" sibTransId="{E57987FB-F28C-44A9-854E-D7197B32008F}"/>
    <dgm:cxn modelId="{45A64E4D-9E92-48B5-8D4C-D973D59BDD8B}" srcId="{51DE3A91-CF9E-44F4-9359-28F59F7C42FD}" destId="{C88ED9C7-B7DF-4BFE-BB9F-97A133E979C5}" srcOrd="2" destOrd="0" parTransId="{BA83E7DB-2C87-46D9-9FBB-69493F43B0FE}" sibTransId="{EF6F85EB-5DC2-47D3-B2E5-B4E42199AA36}"/>
    <dgm:cxn modelId="{4C730255-C96C-4D4B-92F5-2D59F5D4F1CA}" type="presOf" srcId="{51DE3A91-CF9E-44F4-9359-28F59F7C42FD}" destId="{EB718CB2-1659-4212-9093-885E3F47001C}" srcOrd="0" destOrd="0" presId="urn:microsoft.com/office/officeart/2005/8/layout/vList2"/>
    <dgm:cxn modelId="{B74126B1-9F03-42BA-8BBD-48A3E9E8CCDF}" srcId="{51DE3A91-CF9E-44F4-9359-28F59F7C42FD}" destId="{E1A9323F-53C0-42D1-8D7D-9F565AFA9461}" srcOrd="0" destOrd="0" parTransId="{B0FA230A-E3B2-4DB8-A147-AC4F258F4F81}" sibTransId="{B5C00097-5E07-4165-AC6F-BE93F240120D}"/>
    <dgm:cxn modelId="{8435BCC1-9951-4776-9162-57386FD8B8D6}" type="presOf" srcId="{C88ED9C7-B7DF-4BFE-BB9F-97A133E979C5}" destId="{5FB2C8A1-DDCA-4D29-BA8E-47D85A217E41}" srcOrd="0" destOrd="0" presId="urn:microsoft.com/office/officeart/2005/8/layout/vList2"/>
    <dgm:cxn modelId="{D88B93C5-DEB2-4956-BFE2-C265D739B609}" type="presOf" srcId="{C26EEAE9-8AB6-4B55-B596-40EA4D4A1197}" destId="{05B166A6-A7DB-4CFF-87BE-4C474B387918}" srcOrd="0" destOrd="0" presId="urn:microsoft.com/office/officeart/2005/8/layout/vList2"/>
    <dgm:cxn modelId="{0A2C01D2-8747-47AB-BE43-068AECF2FDD1}" srcId="{51DE3A91-CF9E-44F4-9359-28F59F7C42FD}" destId="{C26EEAE9-8AB6-4B55-B596-40EA4D4A1197}" srcOrd="1" destOrd="0" parTransId="{40F8E8F5-EFF8-4B36-B461-B6967F4659F4}" sibTransId="{D7248BE0-78DE-417B-B20D-FF5DAE915942}"/>
    <dgm:cxn modelId="{AF0F4256-94DD-4EB7-BED4-6970D08D71F0}" type="presParOf" srcId="{EB718CB2-1659-4212-9093-885E3F47001C}" destId="{1DB35979-7C58-4E1B-854F-D46EFE8E5DB8}" srcOrd="0" destOrd="0" presId="urn:microsoft.com/office/officeart/2005/8/layout/vList2"/>
    <dgm:cxn modelId="{CF3B9BDC-BE08-41D4-8886-E6ECD55FE791}" type="presParOf" srcId="{EB718CB2-1659-4212-9093-885E3F47001C}" destId="{46DA6FD6-3F55-45E4-800C-D5162946BE36}" srcOrd="1" destOrd="0" presId="urn:microsoft.com/office/officeart/2005/8/layout/vList2"/>
    <dgm:cxn modelId="{80EDDC39-4886-4C69-A85B-AFB35D27E689}" type="presParOf" srcId="{EB718CB2-1659-4212-9093-885E3F47001C}" destId="{05B166A6-A7DB-4CFF-87BE-4C474B387918}" srcOrd="2" destOrd="0" presId="urn:microsoft.com/office/officeart/2005/8/layout/vList2"/>
    <dgm:cxn modelId="{9BCFE4F4-DC38-4981-9FD0-3BCFAA932217}" type="presParOf" srcId="{EB718CB2-1659-4212-9093-885E3F47001C}" destId="{BF846EB2-34EE-47FD-80F2-B598E9A5F59D}" srcOrd="3" destOrd="0" presId="urn:microsoft.com/office/officeart/2005/8/layout/vList2"/>
    <dgm:cxn modelId="{D36C79A2-597C-47B3-87B3-EB8EC4307455}" type="presParOf" srcId="{EB718CB2-1659-4212-9093-885E3F47001C}" destId="{5FB2C8A1-DDCA-4D29-BA8E-47D85A217E41}" srcOrd="4" destOrd="0" presId="urn:microsoft.com/office/officeart/2005/8/layout/vList2"/>
    <dgm:cxn modelId="{0E18653D-9138-4539-8D1A-3A3FAC7A2E7E}" type="presParOf" srcId="{EB718CB2-1659-4212-9093-885E3F47001C}" destId="{50018374-9D1C-4E5D-A65E-784E89D65AA0}" srcOrd="5" destOrd="0" presId="urn:microsoft.com/office/officeart/2005/8/layout/vList2"/>
    <dgm:cxn modelId="{1EEF8F94-F656-492B-A947-F03A6036EB28}" type="presParOf" srcId="{EB718CB2-1659-4212-9093-885E3F47001C}" destId="{EB325475-D8F3-4547-85C0-0FB40AD2EC6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2EEE39-B81B-48D8-81BE-5830784A2EBD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456CE34-8C53-446A-878E-9B477197B0FB}">
      <dgm:prSet/>
      <dgm:spPr/>
      <dgm:t>
        <a:bodyPr/>
        <a:lstStyle/>
        <a:p>
          <a:r>
            <a:rPr lang="zh-CN"/>
            <a:t>编码器</a:t>
          </a:r>
          <a:r>
            <a:rPr lang="en-US"/>
            <a:t>-</a:t>
          </a:r>
          <a:r>
            <a:rPr lang="zh-CN"/>
            <a:t>解码器结构 </a:t>
          </a:r>
          <a:r>
            <a:rPr lang="en-US"/>
            <a:t>+ </a:t>
          </a:r>
          <a:r>
            <a:rPr lang="zh-CN"/>
            <a:t>跳跃连接</a:t>
          </a:r>
          <a:endParaRPr lang="en-US"/>
        </a:p>
      </dgm:t>
    </dgm:pt>
    <dgm:pt modelId="{67638A30-4B4E-46A7-A0E9-26B9CABDED74}" type="parTrans" cxnId="{6DA257CF-6126-4D2D-9734-6EFC2AC1C11F}">
      <dgm:prSet/>
      <dgm:spPr/>
      <dgm:t>
        <a:bodyPr/>
        <a:lstStyle/>
        <a:p>
          <a:endParaRPr lang="en-US"/>
        </a:p>
      </dgm:t>
    </dgm:pt>
    <dgm:pt modelId="{D2165493-7584-47A9-B354-F14D6894791F}" type="sibTrans" cxnId="{6DA257CF-6126-4D2D-9734-6EFC2AC1C11F}">
      <dgm:prSet/>
      <dgm:spPr/>
      <dgm:t>
        <a:bodyPr/>
        <a:lstStyle/>
        <a:p>
          <a:endParaRPr lang="en-US"/>
        </a:p>
      </dgm:t>
    </dgm:pt>
    <dgm:pt modelId="{A9464143-7399-404A-B31F-261A9CEC7899}">
      <dgm:prSet/>
      <dgm:spPr/>
      <dgm:t>
        <a:bodyPr/>
        <a:lstStyle/>
        <a:p>
          <a:r>
            <a:rPr lang="en-US"/>
            <a:t>WCDA</a:t>
          </a:r>
          <a:r>
            <a:rPr lang="zh-CN"/>
            <a:t>模块：</a:t>
          </a:r>
          <a:endParaRPr lang="en-US"/>
        </a:p>
      </dgm:t>
    </dgm:pt>
    <dgm:pt modelId="{8AC01649-2990-4689-A856-089A7B012804}" type="parTrans" cxnId="{46E7FBB5-4ECF-45BD-B3C6-375F4314DDA8}">
      <dgm:prSet/>
      <dgm:spPr/>
      <dgm:t>
        <a:bodyPr/>
        <a:lstStyle/>
        <a:p>
          <a:endParaRPr lang="en-US"/>
        </a:p>
      </dgm:t>
    </dgm:pt>
    <dgm:pt modelId="{CCA06E17-4BA0-4A7D-B7A4-325746726332}" type="sibTrans" cxnId="{46E7FBB5-4ECF-45BD-B3C6-375F4314DDA8}">
      <dgm:prSet/>
      <dgm:spPr/>
      <dgm:t>
        <a:bodyPr/>
        <a:lstStyle/>
        <a:p>
          <a:endParaRPr lang="en-US"/>
        </a:p>
      </dgm:t>
    </dgm:pt>
    <dgm:pt modelId="{F02E0706-19E3-495E-8840-89FDF14544FD}">
      <dgm:prSet/>
      <dgm:spPr/>
      <dgm:t>
        <a:bodyPr/>
        <a:lstStyle/>
        <a:p>
          <a:r>
            <a:rPr lang="en-US"/>
            <a:t>3D-DWT</a:t>
          </a:r>
          <a:r>
            <a:rPr lang="zh-CN"/>
            <a:t>压缩特征</a:t>
          </a:r>
          <a:endParaRPr lang="en-US"/>
        </a:p>
      </dgm:t>
    </dgm:pt>
    <dgm:pt modelId="{B333195A-F04C-460B-871E-04BD63E94446}" type="parTrans" cxnId="{5F83F232-4E1B-4DD7-AB8D-9DEF94B0E4D4}">
      <dgm:prSet/>
      <dgm:spPr/>
      <dgm:t>
        <a:bodyPr/>
        <a:lstStyle/>
        <a:p>
          <a:endParaRPr lang="en-US"/>
        </a:p>
      </dgm:t>
    </dgm:pt>
    <dgm:pt modelId="{8D2A9494-9DE9-478C-A916-365F01F7AFF2}" type="sibTrans" cxnId="{5F83F232-4E1B-4DD7-AB8D-9DEF94B0E4D4}">
      <dgm:prSet/>
      <dgm:spPr/>
      <dgm:t>
        <a:bodyPr/>
        <a:lstStyle/>
        <a:p>
          <a:endParaRPr lang="en-US"/>
        </a:p>
      </dgm:t>
    </dgm:pt>
    <dgm:pt modelId="{316E328E-F8A3-47FC-A17B-527A7E0DF42F}">
      <dgm:prSet/>
      <dgm:spPr/>
      <dgm:t>
        <a:bodyPr/>
        <a:lstStyle/>
        <a:p>
          <a:r>
            <a:rPr lang="zh-CN"/>
            <a:t>双注意力计算（</a:t>
          </a:r>
          <a:r>
            <a:rPr lang="en-US"/>
            <a:t>Q/K/V</a:t>
          </a:r>
          <a:r>
            <a:rPr lang="zh-CN"/>
            <a:t>投影）</a:t>
          </a:r>
          <a:endParaRPr lang="en-US"/>
        </a:p>
      </dgm:t>
    </dgm:pt>
    <dgm:pt modelId="{ED6399FB-E9C9-47BF-89D9-A520DB0AF62F}" type="parTrans" cxnId="{3D7C271E-439E-4B42-9702-35AB8695F5BF}">
      <dgm:prSet/>
      <dgm:spPr/>
      <dgm:t>
        <a:bodyPr/>
        <a:lstStyle/>
        <a:p>
          <a:endParaRPr lang="en-US"/>
        </a:p>
      </dgm:t>
    </dgm:pt>
    <dgm:pt modelId="{0BDBC319-49A6-404D-8D9A-20E37B1D7EF5}" type="sibTrans" cxnId="{3D7C271E-439E-4B42-9702-35AB8695F5BF}">
      <dgm:prSet/>
      <dgm:spPr/>
      <dgm:t>
        <a:bodyPr/>
        <a:lstStyle/>
        <a:p>
          <a:endParaRPr lang="en-US"/>
        </a:p>
      </dgm:t>
    </dgm:pt>
    <dgm:pt modelId="{D61B5750-66C3-4C98-B4E9-67D4EC757018}">
      <dgm:prSet/>
      <dgm:spPr/>
      <dgm:t>
        <a:bodyPr/>
        <a:lstStyle/>
        <a:p>
          <a:r>
            <a:rPr lang="en-US" dirty="0"/>
            <a:t>3D</a:t>
          </a:r>
          <a:r>
            <a:rPr lang="zh-CN" dirty="0"/>
            <a:t>逆小波恢复分辨率</a:t>
          </a:r>
          <a:endParaRPr lang="en-US" dirty="0"/>
        </a:p>
      </dgm:t>
    </dgm:pt>
    <dgm:pt modelId="{55E41A6A-17E9-4C0D-A7BF-A26E8E46B597}" type="parTrans" cxnId="{3866862F-F040-482B-8E26-BDF1170874B6}">
      <dgm:prSet/>
      <dgm:spPr/>
      <dgm:t>
        <a:bodyPr/>
        <a:lstStyle/>
        <a:p>
          <a:endParaRPr lang="en-US"/>
        </a:p>
      </dgm:t>
    </dgm:pt>
    <dgm:pt modelId="{450C3176-3F56-4A4B-B751-59F1CD21219D}" type="sibTrans" cxnId="{3866862F-F040-482B-8E26-BDF1170874B6}">
      <dgm:prSet/>
      <dgm:spPr/>
      <dgm:t>
        <a:bodyPr/>
        <a:lstStyle/>
        <a:p>
          <a:endParaRPr lang="en-US"/>
        </a:p>
      </dgm:t>
    </dgm:pt>
    <dgm:pt modelId="{D7202791-262C-4688-BD34-2D7A21DD6AEC}">
      <dgm:prSet/>
      <dgm:spPr/>
      <dgm:t>
        <a:bodyPr/>
        <a:lstStyle/>
        <a:p>
          <a:r>
            <a:rPr lang="zh-CN" dirty="0"/>
            <a:t>损失函数：</a:t>
          </a:r>
          <a:r>
            <a:rPr lang="en-US" dirty="0"/>
            <a:t>Dice + Cross-Entropy</a:t>
          </a:r>
        </a:p>
      </dgm:t>
    </dgm:pt>
    <dgm:pt modelId="{E76CB0ED-168A-4F01-9B78-BE6392F77A0E}" type="parTrans" cxnId="{91A6533D-7DF9-40D4-A12D-12BBDE43BCDC}">
      <dgm:prSet/>
      <dgm:spPr/>
      <dgm:t>
        <a:bodyPr/>
        <a:lstStyle/>
        <a:p>
          <a:endParaRPr lang="en-US"/>
        </a:p>
      </dgm:t>
    </dgm:pt>
    <dgm:pt modelId="{0A7743D5-1F42-4EA1-B491-2202930989DF}" type="sibTrans" cxnId="{91A6533D-7DF9-40D4-A12D-12BBDE43BCDC}">
      <dgm:prSet/>
      <dgm:spPr/>
      <dgm:t>
        <a:bodyPr/>
        <a:lstStyle/>
        <a:p>
          <a:endParaRPr lang="en-US"/>
        </a:p>
      </dgm:t>
    </dgm:pt>
    <dgm:pt modelId="{9C1F2152-35DA-449B-911E-C1D72EC8F9FF}" type="pres">
      <dgm:prSet presAssocID="{1D2EEE39-B81B-48D8-81BE-5830784A2EBD}" presName="linear" presStyleCnt="0">
        <dgm:presLayoutVars>
          <dgm:dir/>
          <dgm:animLvl val="lvl"/>
          <dgm:resizeHandles val="exact"/>
        </dgm:presLayoutVars>
      </dgm:prSet>
      <dgm:spPr/>
    </dgm:pt>
    <dgm:pt modelId="{11EDDDD1-EA7B-4041-BEA4-DF0517D71CAB}" type="pres">
      <dgm:prSet presAssocID="{0456CE34-8C53-446A-878E-9B477197B0FB}" presName="parentLin" presStyleCnt="0"/>
      <dgm:spPr/>
    </dgm:pt>
    <dgm:pt modelId="{817C6A60-95D6-4CEB-A7CD-C316690FDF7C}" type="pres">
      <dgm:prSet presAssocID="{0456CE34-8C53-446A-878E-9B477197B0FB}" presName="parentLeftMargin" presStyleLbl="node1" presStyleIdx="0" presStyleCnt="3"/>
      <dgm:spPr/>
    </dgm:pt>
    <dgm:pt modelId="{0B0C4C72-B138-4B49-8E5E-F90DB7C5CCEE}" type="pres">
      <dgm:prSet presAssocID="{0456CE34-8C53-446A-878E-9B477197B0F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23DF7B-10FB-4BCB-94CD-C275F30B93F6}" type="pres">
      <dgm:prSet presAssocID="{0456CE34-8C53-446A-878E-9B477197B0FB}" presName="negativeSpace" presStyleCnt="0"/>
      <dgm:spPr/>
    </dgm:pt>
    <dgm:pt modelId="{4B02CE37-0C9C-4E9C-A9A7-456CDBBED146}" type="pres">
      <dgm:prSet presAssocID="{0456CE34-8C53-446A-878E-9B477197B0FB}" presName="childText" presStyleLbl="conFgAcc1" presStyleIdx="0" presStyleCnt="3">
        <dgm:presLayoutVars>
          <dgm:bulletEnabled val="1"/>
        </dgm:presLayoutVars>
      </dgm:prSet>
      <dgm:spPr/>
    </dgm:pt>
    <dgm:pt modelId="{3692FAC6-EE83-4D15-9446-8303D3CD8EC3}" type="pres">
      <dgm:prSet presAssocID="{D2165493-7584-47A9-B354-F14D6894791F}" presName="spaceBetweenRectangles" presStyleCnt="0"/>
      <dgm:spPr/>
    </dgm:pt>
    <dgm:pt modelId="{F8BD0CB5-F71B-4128-952D-E245421EAB53}" type="pres">
      <dgm:prSet presAssocID="{A9464143-7399-404A-B31F-261A9CEC7899}" presName="parentLin" presStyleCnt="0"/>
      <dgm:spPr/>
    </dgm:pt>
    <dgm:pt modelId="{9B7FE5FF-8894-4902-B451-BD1ED53B81B7}" type="pres">
      <dgm:prSet presAssocID="{A9464143-7399-404A-B31F-261A9CEC7899}" presName="parentLeftMargin" presStyleLbl="node1" presStyleIdx="0" presStyleCnt="3"/>
      <dgm:spPr/>
    </dgm:pt>
    <dgm:pt modelId="{1D8CC689-BC45-4499-9455-9907A4319FFB}" type="pres">
      <dgm:prSet presAssocID="{A9464143-7399-404A-B31F-261A9CEC789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D11157-D860-444A-8293-A085890359D0}" type="pres">
      <dgm:prSet presAssocID="{A9464143-7399-404A-B31F-261A9CEC7899}" presName="negativeSpace" presStyleCnt="0"/>
      <dgm:spPr/>
    </dgm:pt>
    <dgm:pt modelId="{B0B08F4F-EB15-4860-AA2E-15A7B9B132AD}" type="pres">
      <dgm:prSet presAssocID="{A9464143-7399-404A-B31F-261A9CEC7899}" presName="childText" presStyleLbl="conFgAcc1" presStyleIdx="1" presStyleCnt="3">
        <dgm:presLayoutVars>
          <dgm:bulletEnabled val="1"/>
        </dgm:presLayoutVars>
      </dgm:prSet>
      <dgm:spPr/>
    </dgm:pt>
    <dgm:pt modelId="{32C70C10-0353-493B-BD05-5A3655BCACA8}" type="pres">
      <dgm:prSet presAssocID="{CCA06E17-4BA0-4A7D-B7A4-325746726332}" presName="spaceBetweenRectangles" presStyleCnt="0"/>
      <dgm:spPr/>
    </dgm:pt>
    <dgm:pt modelId="{F2FF9CF4-3571-48DA-95F6-19BF78D34652}" type="pres">
      <dgm:prSet presAssocID="{D7202791-262C-4688-BD34-2D7A21DD6AEC}" presName="parentLin" presStyleCnt="0"/>
      <dgm:spPr/>
    </dgm:pt>
    <dgm:pt modelId="{9D166180-1E15-47C1-877F-B2B85220D464}" type="pres">
      <dgm:prSet presAssocID="{D7202791-262C-4688-BD34-2D7A21DD6AEC}" presName="parentLeftMargin" presStyleLbl="node1" presStyleIdx="1" presStyleCnt="3"/>
      <dgm:spPr/>
    </dgm:pt>
    <dgm:pt modelId="{7DECA055-0E61-43E7-A08C-E2C0C8B36E22}" type="pres">
      <dgm:prSet presAssocID="{D7202791-262C-4688-BD34-2D7A21DD6AE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468FA37-B94A-4BE0-BD1F-D0925CE22BDC}" type="pres">
      <dgm:prSet presAssocID="{D7202791-262C-4688-BD34-2D7A21DD6AEC}" presName="negativeSpace" presStyleCnt="0"/>
      <dgm:spPr/>
    </dgm:pt>
    <dgm:pt modelId="{7AFE73FA-2648-441F-8694-9DA556C96C31}" type="pres">
      <dgm:prSet presAssocID="{D7202791-262C-4688-BD34-2D7A21DD6AE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C70F00B-819F-4865-8095-E86FAE70D8BB}" type="presOf" srcId="{F02E0706-19E3-495E-8840-89FDF14544FD}" destId="{B0B08F4F-EB15-4860-AA2E-15A7B9B132AD}" srcOrd="0" destOrd="0" presId="urn:microsoft.com/office/officeart/2005/8/layout/list1"/>
    <dgm:cxn modelId="{8DDCEF15-A453-498D-B61E-CAF53E9273C8}" type="presOf" srcId="{A9464143-7399-404A-B31F-261A9CEC7899}" destId="{9B7FE5FF-8894-4902-B451-BD1ED53B81B7}" srcOrd="0" destOrd="0" presId="urn:microsoft.com/office/officeart/2005/8/layout/list1"/>
    <dgm:cxn modelId="{978E0D16-EE8B-4374-AB48-A78F84D73912}" type="presOf" srcId="{A9464143-7399-404A-B31F-261A9CEC7899}" destId="{1D8CC689-BC45-4499-9455-9907A4319FFB}" srcOrd="1" destOrd="0" presId="urn:microsoft.com/office/officeart/2005/8/layout/list1"/>
    <dgm:cxn modelId="{3D7C271E-439E-4B42-9702-35AB8695F5BF}" srcId="{A9464143-7399-404A-B31F-261A9CEC7899}" destId="{316E328E-F8A3-47FC-A17B-527A7E0DF42F}" srcOrd="1" destOrd="0" parTransId="{ED6399FB-E9C9-47BF-89D9-A520DB0AF62F}" sibTransId="{0BDBC319-49A6-404D-8D9A-20E37B1D7EF5}"/>
    <dgm:cxn modelId="{F76A5025-B6CB-482A-A25A-66BC0C2E838A}" type="presOf" srcId="{D7202791-262C-4688-BD34-2D7A21DD6AEC}" destId="{9D166180-1E15-47C1-877F-B2B85220D464}" srcOrd="0" destOrd="0" presId="urn:microsoft.com/office/officeart/2005/8/layout/list1"/>
    <dgm:cxn modelId="{C6B36828-FEC6-491E-BE4A-48C40534628A}" type="presOf" srcId="{0456CE34-8C53-446A-878E-9B477197B0FB}" destId="{817C6A60-95D6-4CEB-A7CD-C316690FDF7C}" srcOrd="0" destOrd="0" presId="urn:microsoft.com/office/officeart/2005/8/layout/list1"/>
    <dgm:cxn modelId="{11274D28-1C89-4DA0-A7D0-BB1CB07FC13D}" type="presOf" srcId="{D61B5750-66C3-4C98-B4E9-67D4EC757018}" destId="{B0B08F4F-EB15-4860-AA2E-15A7B9B132AD}" srcOrd="0" destOrd="2" presId="urn:microsoft.com/office/officeart/2005/8/layout/list1"/>
    <dgm:cxn modelId="{3866862F-F040-482B-8E26-BDF1170874B6}" srcId="{A9464143-7399-404A-B31F-261A9CEC7899}" destId="{D61B5750-66C3-4C98-B4E9-67D4EC757018}" srcOrd="2" destOrd="0" parTransId="{55E41A6A-17E9-4C0D-A7BF-A26E8E46B597}" sibTransId="{450C3176-3F56-4A4B-B751-59F1CD21219D}"/>
    <dgm:cxn modelId="{5F83F232-4E1B-4DD7-AB8D-9DEF94B0E4D4}" srcId="{A9464143-7399-404A-B31F-261A9CEC7899}" destId="{F02E0706-19E3-495E-8840-89FDF14544FD}" srcOrd="0" destOrd="0" parTransId="{B333195A-F04C-460B-871E-04BD63E94446}" sibTransId="{8D2A9494-9DE9-478C-A916-365F01F7AFF2}"/>
    <dgm:cxn modelId="{91A6533D-7DF9-40D4-A12D-12BBDE43BCDC}" srcId="{1D2EEE39-B81B-48D8-81BE-5830784A2EBD}" destId="{D7202791-262C-4688-BD34-2D7A21DD6AEC}" srcOrd="2" destOrd="0" parTransId="{E76CB0ED-168A-4F01-9B78-BE6392F77A0E}" sibTransId="{0A7743D5-1F42-4EA1-B491-2202930989DF}"/>
    <dgm:cxn modelId="{8AED419A-B4E7-48DB-815D-77E3A2A106EE}" type="presOf" srcId="{1D2EEE39-B81B-48D8-81BE-5830784A2EBD}" destId="{9C1F2152-35DA-449B-911E-C1D72EC8F9FF}" srcOrd="0" destOrd="0" presId="urn:microsoft.com/office/officeart/2005/8/layout/list1"/>
    <dgm:cxn modelId="{48001AA5-8EF7-4CC0-BBA4-3CB7E3F7B00A}" type="presOf" srcId="{316E328E-F8A3-47FC-A17B-527A7E0DF42F}" destId="{B0B08F4F-EB15-4860-AA2E-15A7B9B132AD}" srcOrd="0" destOrd="1" presId="urn:microsoft.com/office/officeart/2005/8/layout/list1"/>
    <dgm:cxn modelId="{46E7FBB5-4ECF-45BD-B3C6-375F4314DDA8}" srcId="{1D2EEE39-B81B-48D8-81BE-5830784A2EBD}" destId="{A9464143-7399-404A-B31F-261A9CEC7899}" srcOrd="1" destOrd="0" parTransId="{8AC01649-2990-4689-A856-089A7B012804}" sibTransId="{CCA06E17-4BA0-4A7D-B7A4-325746726332}"/>
    <dgm:cxn modelId="{6DA257CF-6126-4D2D-9734-6EFC2AC1C11F}" srcId="{1D2EEE39-B81B-48D8-81BE-5830784A2EBD}" destId="{0456CE34-8C53-446A-878E-9B477197B0FB}" srcOrd="0" destOrd="0" parTransId="{67638A30-4B4E-46A7-A0E9-26B9CABDED74}" sibTransId="{D2165493-7584-47A9-B354-F14D6894791F}"/>
    <dgm:cxn modelId="{E7A378DC-4508-400B-B2EC-67618D9CAF5D}" type="presOf" srcId="{D7202791-262C-4688-BD34-2D7A21DD6AEC}" destId="{7DECA055-0E61-43E7-A08C-E2C0C8B36E22}" srcOrd="1" destOrd="0" presId="urn:microsoft.com/office/officeart/2005/8/layout/list1"/>
    <dgm:cxn modelId="{79B558E8-C217-41D1-AB5D-199B3B1988DA}" type="presOf" srcId="{0456CE34-8C53-446A-878E-9B477197B0FB}" destId="{0B0C4C72-B138-4B49-8E5E-F90DB7C5CCEE}" srcOrd="1" destOrd="0" presId="urn:microsoft.com/office/officeart/2005/8/layout/list1"/>
    <dgm:cxn modelId="{D2CF46F5-00F1-4069-9E5F-660C3F2FDD13}" type="presParOf" srcId="{9C1F2152-35DA-449B-911E-C1D72EC8F9FF}" destId="{11EDDDD1-EA7B-4041-BEA4-DF0517D71CAB}" srcOrd="0" destOrd="0" presId="urn:microsoft.com/office/officeart/2005/8/layout/list1"/>
    <dgm:cxn modelId="{2ED0B703-5A93-4952-8E9D-A0A91C083919}" type="presParOf" srcId="{11EDDDD1-EA7B-4041-BEA4-DF0517D71CAB}" destId="{817C6A60-95D6-4CEB-A7CD-C316690FDF7C}" srcOrd="0" destOrd="0" presId="urn:microsoft.com/office/officeart/2005/8/layout/list1"/>
    <dgm:cxn modelId="{8F1AFBED-42B9-48AC-9C3A-0ED44CE7748C}" type="presParOf" srcId="{11EDDDD1-EA7B-4041-BEA4-DF0517D71CAB}" destId="{0B0C4C72-B138-4B49-8E5E-F90DB7C5CCEE}" srcOrd="1" destOrd="0" presId="urn:microsoft.com/office/officeart/2005/8/layout/list1"/>
    <dgm:cxn modelId="{A4244316-B3B0-4218-9048-AFC0DCC56057}" type="presParOf" srcId="{9C1F2152-35DA-449B-911E-C1D72EC8F9FF}" destId="{6723DF7B-10FB-4BCB-94CD-C275F30B93F6}" srcOrd="1" destOrd="0" presId="urn:microsoft.com/office/officeart/2005/8/layout/list1"/>
    <dgm:cxn modelId="{AC15A04A-D0DC-4382-88CB-413D701FB62F}" type="presParOf" srcId="{9C1F2152-35DA-449B-911E-C1D72EC8F9FF}" destId="{4B02CE37-0C9C-4E9C-A9A7-456CDBBED146}" srcOrd="2" destOrd="0" presId="urn:microsoft.com/office/officeart/2005/8/layout/list1"/>
    <dgm:cxn modelId="{AFCD5A43-30B7-4857-8E06-F6C7BE55BBE5}" type="presParOf" srcId="{9C1F2152-35DA-449B-911E-C1D72EC8F9FF}" destId="{3692FAC6-EE83-4D15-9446-8303D3CD8EC3}" srcOrd="3" destOrd="0" presId="urn:microsoft.com/office/officeart/2005/8/layout/list1"/>
    <dgm:cxn modelId="{9F9EB37C-54D6-4CB0-BFAA-93766F24C136}" type="presParOf" srcId="{9C1F2152-35DA-449B-911E-C1D72EC8F9FF}" destId="{F8BD0CB5-F71B-4128-952D-E245421EAB53}" srcOrd="4" destOrd="0" presId="urn:microsoft.com/office/officeart/2005/8/layout/list1"/>
    <dgm:cxn modelId="{01755AA5-DDE0-49BA-8903-2449147BE032}" type="presParOf" srcId="{F8BD0CB5-F71B-4128-952D-E245421EAB53}" destId="{9B7FE5FF-8894-4902-B451-BD1ED53B81B7}" srcOrd="0" destOrd="0" presId="urn:microsoft.com/office/officeart/2005/8/layout/list1"/>
    <dgm:cxn modelId="{E3B551AD-2EAE-4BDC-B4F7-46660D21C237}" type="presParOf" srcId="{F8BD0CB5-F71B-4128-952D-E245421EAB53}" destId="{1D8CC689-BC45-4499-9455-9907A4319FFB}" srcOrd="1" destOrd="0" presId="urn:microsoft.com/office/officeart/2005/8/layout/list1"/>
    <dgm:cxn modelId="{87C368AA-3EC3-46C9-8941-A2A5B8E91FCD}" type="presParOf" srcId="{9C1F2152-35DA-449B-911E-C1D72EC8F9FF}" destId="{E8D11157-D860-444A-8293-A085890359D0}" srcOrd="5" destOrd="0" presId="urn:microsoft.com/office/officeart/2005/8/layout/list1"/>
    <dgm:cxn modelId="{AD107837-C5DC-41FD-88FC-159B7DA40B82}" type="presParOf" srcId="{9C1F2152-35DA-449B-911E-C1D72EC8F9FF}" destId="{B0B08F4F-EB15-4860-AA2E-15A7B9B132AD}" srcOrd="6" destOrd="0" presId="urn:microsoft.com/office/officeart/2005/8/layout/list1"/>
    <dgm:cxn modelId="{6E3AA638-6D20-4E19-91D0-1A0DE1B95EDC}" type="presParOf" srcId="{9C1F2152-35DA-449B-911E-C1D72EC8F9FF}" destId="{32C70C10-0353-493B-BD05-5A3655BCACA8}" srcOrd="7" destOrd="0" presId="urn:microsoft.com/office/officeart/2005/8/layout/list1"/>
    <dgm:cxn modelId="{AC2FED21-CE9E-493E-B221-AB6F516DEEB9}" type="presParOf" srcId="{9C1F2152-35DA-449B-911E-C1D72EC8F9FF}" destId="{F2FF9CF4-3571-48DA-95F6-19BF78D34652}" srcOrd="8" destOrd="0" presId="urn:microsoft.com/office/officeart/2005/8/layout/list1"/>
    <dgm:cxn modelId="{F6A85FF8-5BAD-407C-87EA-CF5AC54DC8C2}" type="presParOf" srcId="{F2FF9CF4-3571-48DA-95F6-19BF78D34652}" destId="{9D166180-1E15-47C1-877F-B2B85220D464}" srcOrd="0" destOrd="0" presId="urn:microsoft.com/office/officeart/2005/8/layout/list1"/>
    <dgm:cxn modelId="{8A40C7ED-4AA0-48F5-B699-22A9BAD8A6F6}" type="presParOf" srcId="{F2FF9CF4-3571-48DA-95F6-19BF78D34652}" destId="{7DECA055-0E61-43E7-A08C-E2C0C8B36E22}" srcOrd="1" destOrd="0" presId="urn:microsoft.com/office/officeart/2005/8/layout/list1"/>
    <dgm:cxn modelId="{4DAEFB36-7CDC-41BD-A5AD-4024E910994B}" type="presParOf" srcId="{9C1F2152-35DA-449B-911E-C1D72EC8F9FF}" destId="{5468FA37-B94A-4BE0-BD1F-D0925CE22BDC}" srcOrd="9" destOrd="0" presId="urn:microsoft.com/office/officeart/2005/8/layout/list1"/>
    <dgm:cxn modelId="{E38BB969-BFC9-4534-A956-FBCD842CC21C}" type="presParOf" srcId="{9C1F2152-35DA-449B-911E-C1D72EC8F9FF}" destId="{7AFE73FA-2648-441F-8694-9DA556C96C3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35979-7C58-4E1B-854F-D46EFE8E5DB8}">
      <dsp:nvSpPr>
        <dsp:cNvPr id="0" name=""/>
        <dsp:cNvSpPr/>
      </dsp:nvSpPr>
      <dsp:spPr>
        <a:xfrm>
          <a:off x="0" y="245367"/>
          <a:ext cx="6291714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b="1" kern="1200"/>
            <a:t>论文题目：</a:t>
          </a:r>
          <a:r>
            <a:rPr lang="zh-CN" sz="2000" kern="1200"/>
            <a:t> </a:t>
          </a:r>
          <a:r>
            <a:rPr lang="en-US" sz="2000" kern="1200"/>
            <a:t>WAVEU3S: A Lightweight Wavelet Dual-Attention UNet for 3D Medical Image Segmentation</a:t>
          </a:r>
          <a:br>
            <a:rPr lang="en-US" sz="2000" kern="1200"/>
          </a:br>
          <a:r>
            <a:rPr lang="zh-CN" sz="2000" b="1" kern="1200"/>
            <a:t>核心创新：</a:t>
          </a:r>
          <a:endParaRPr lang="en-US" sz="2000" kern="1200"/>
        </a:p>
      </dsp:txBody>
      <dsp:txXfrm>
        <a:off x="59399" y="304766"/>
        <a:ext cx="6172916" cy="1098002"/>
      </dsp:txXfrm>
    </dsp:sp>
    <dsp:sp modelId="{05B166A6-A7DB-4CFF-87BE-4C474B387918}">
      <dsp:nvSpPr>
        <dsp:cNvPr id="0" name=""/>
        <dsp:cNvSpPr/>
      </dsp:nvSpPr>
      <dsp:spPr>
        <a:xfrm>
          <a:off x="0" y="1519767"/>
          <a:ext cx="6291714" cy="121680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3D</a:t>
          </a:r>
          <a:r>
            <a:rPr lang="zh-CN" sz="2000" kern="1200"/>
            <a:t>小波变换无损压缩空间分辨率</a:t>
          </a:r>
          <a:endParaRPr lang="en-US" sz="2000" kern="1200"/>
        </a:p>
      </dsp:txBody>
      <dsp:txXfrm>
        <a:off x="59399" y="1579166"/>
        <a:ext cx="6172916" cy="1098002"/>
      </dsp:txXfrm>
    </dsp:sp>
    <dsp:sp modelId="{5FB2C8A1-DDCA-4D29-BA8E-47D85A217E41}">
      <dsp:nvSpPr>
        <dsp:cNvPr id="0" name=""/>
        <dsp:cNvSpPr/>
      </dsp:nvSpPr>
      <dsp:spPr>
        <a:xfrm>
          <a:off x="0" y="2794167"/>
          <a:ext cx="6291714" cy="121680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双注意力机制（空间</a:t>
          </a:r>
          <a:r>
            <a:rPr lang="en-US" sz="2000" kern="1200"/>
            <a:t>+</a:t>
          </a:r>
          <a:r>
            <a:rPr lang="zh-CN" sz="2000" kern="1200"/>
            <a:t>通道）提升特征表达</a:t>
          </a:r>
          <a:endParaRPr lang="en-US" sz="2000" kern="1200"/>
        </a:p>
      </dsp:txBody>
      <dsp:txXfrm>
        <a:off x="59399" y="2853566"/>
        <a:ext cx="6172916" cy="1098002"/>
      </dsp:txXfrm>
    </dsp:sp>
    <dsp:sp modelId="{EB325475-D8F3-4547-85C0-0FB40AD2EC62}">
      <dsp:nvSpPr>
        <dsp:cNvPr id="0" name=""/>
        <dsp:cNvSpPr/>
      </dsp:nvSpPr>
      <dsp:spPr>
        <a:xfrm>
          <a:off x="0" y="4068567"/>
          <a:ext cx="6291714" cy="12168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000" kern="1200"/>
            <a:t>轻量高效，适合资源受限场景</a:t>
          </a:r>
          <a:endParaRPr lang="en-US" sz="2000" kern="1200"/>
        </a:p>
      </dsp:txBody>
      <dsp:txXfrm>
        <a:off x="59399" y="4127966"/>
        <a:ext cx="6172916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2CE37-0C9C-4E9C-A9A7-456CDBBED146}">
      <dsp:nvSpPr>
        <dsp:cNvPr id="0" name=""/>
        <dsp:cNvSpPr/>
      </dsp:nvSpPr>
      <dsp:spPr>
        <a:xfrm>
          <a:off x="0" y="1046232"/>
          <a:ext cx="629171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C4C72-B138-4B49-8E5E-F90DB7C5CCEE}">
      <dsp:nvSpPr>
        <dsp:cNvPr id="0" name=""/>
        <dsp:cNvSpPr/>
      </dsp:nvSpPr>
      <dsp:spPr>
        <a:xfrm>
          <a:off x="314585" y="721512"/>
          <a:ext cx="4404199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/>
            <a:t>编码器</a:t>
          </a:r>
          <a:r>
            <a:rPr lang="en-US" sz="2200" kern="1200"/>
            <a:t>-</a:t>
          </a:r>
          <a:r>
            <a:rPr lang="zh-CN" sz="2200" kern="1200"/>
            <a:t>解码器结构 </a:t>
          </a:r>
          <a:r>
            <a:rPr lang="en-US" sz="2200" kern="1200"/>
            <a:t>+ </a:t>
          </a:r>
          <a:r>
            <a:rPr lang="zh-CN" sz="2200" kern="1200"/>
            <a:t>跳跃连接</a:t>
          </a:r>
          <a:endParaRPr lang="en-US" sz="2200" kern="1200"/>
        </a:p>
      </dsp:txBody>
      <dsp:txXfrm>
        <a:off x="346288" y="753215"/>
        <a:ext cx="4340793" cy="586034"/>
      </dsp:txXfrm>
    </dsp:sp>
    <dsp:sp modelId="{B0B08F4F-EB15-4860-AA2E-15A7B9B132AD}">
      <dsp:nvSpPr>
        <dsp:cNvPr id="0" name=""/>
        <dsp:cNvSpPr/>
      </dsp:nvSpPr>
      <dsp:spPr>
        <a:xfrm>
          <a:off x="0" y="2044152"/>
          <a:ext cx="6291714" cy="1767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07" tIns="458216" rIns="48830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3D-DWT</a:t>
          </a:r>
          <a:r>
            <a:rPr lang="zh-CN" sz="2200" kern="1200"/>
            <a:t>压缩特征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200" kern="1200"/>
            <a:t>双注意力计算（</a:t>
          </a:r>
          <a:r>
            <a:rPr lang="en-US" sz="2200" kern="1200"/>
            <a:t>Q/K/V</a:t>
          </a:r>
          <a:r>
            <a:rPr lang="zh-CN" sz="2200" kern="1200"/>
            <a:t>投影）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3D</a:t>
          </a:r>
          <a:r>
            <a:rPr lang="zh-CN" sz="2200" kern="1200" dirty="0"/>
            <a:t>逆小波恢复分辨率</a:t>
          </a:r>
          <a:endParaRPr lang="en-US" sz="2200" kern="1200" dirty="0"/>
        </a:p>
      </dsp:txBody>
      <dsp:txXfrm>
        <a:off x="0" y="2044152"/>
        <a:ext cx="6291714" cy="1767150"/>
      </dsp:txXfrm>
    </dsp:sp>
    <dsp:sp modelId="{1D8CC689-BC45-4499-9455-9907A4319FFB}">
      <dsp:nvSpPr>
        <dsp:cNvPr id="0" name=""/>
        <dsp:cNvSpPr/>
      </dsp:nvSpPr>
      <dsp:spPr>
        <a:xfrm>
          <a:off x="314585" y="1719432"/>
          <a:ext cx="4404199" cy="6494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WCDA</a:t>
          </a:r>
          <a:r>
            <a:rPr lang="zh-CN" sz="2200" kern="1200"/>
            <a:t>模块：</a:t>
          </a:r>
          <a:endParaRPr lang="en-US" sz="2200" kern="1200"/>
        </a:p>
      </dsp:txBody>
      <dsp:txXfrm>
        <a:off x="346288" y="1751135"/>
        <a:ext cx="4340793" cy="586034"/>
      </dsp:txXfrm>
    </dsp:sp>
    <dsp:sp modelId="{7AFE73FA-2648-441F-8694-9DA556C96C31}">
      <dsp:nvSpPr>
        <dsp:cNvPr id="0" name=""/>
        <dsp:cNvSpPr/>
      </dsp:nvSpPr>
      <dsp:spPr>
        <a:xfrm>
          <a:off x="0" y="4254822"/>
          <a:ext cx="629171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CA055-0E61-43E7-A08C-E2C0C8B36E22}">
      <dsp:nvSpPr>
        <dsp:cNvPr id="0" name=""/>
        <dsp:cNvSpPr/>
      </dsp:nvSpPr>
      <dsp:spPr>
        <a:xfrm>
          <a:off x="314585" y="3930102"/>
          <a:ext cx="4404199" cy="6494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 dirty="0"/>
            <a:t>损失函数：</a:t>
          </a:r>
          <a:r>
            <a:rPr lang="en-US" sz="2200" kern="1200" dirty="0"/>
            <a:t>Dice + Cross-Entropy</a:t>
          </a:r>
        </a:p>
      </dsp:txBody>
      <dsp:txXfrm>
        <a:off x="346288" y="3961805"/>
        <a:ext cx="4340793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EF9A7-EA61-480E-B316-A457A0653C02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67E1E-9A79-42AA-8333-1CA7E621B6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41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497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“请大家看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，这是我们提出的 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SAStainDiff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方法的整体框架图。在数字病理图像分析中，由于染色工艺不同，图像风格差异很大，这严重影响了诊断模型的鲁棒性。现有的方法，比如传统的数学方法和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，要么容易在特定组织上失效，要么训练不稳定。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针对这个问题，我们的核心思路是利用扩散模型进行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自监督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的染色标准化。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框架主要分为三个部分：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Forward Process (a)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这是标准的扩散前向过程，我们逐步对目标风格的图像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添加噪声，直到其变成纯噪声。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Stain Augmentation (b)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这是我们的创新点。在训练时，我们并没有使用昂贵的配对数据，而是通过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染色增强模块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进行模拟，生成不同染色风格的图像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。这个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就作为我们模型的条件输入。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Reverse Process (c)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在反向去噪过程中，我们将任意染色风格的图像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作为引导条件。模型的任务是在去噪的同时，根据条件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恢复出具有目标染色风格的图像，同时完整保留原有的组织结构。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这样一来，模型就学会了‘无视输入图像的染色风格，只关注组织结构，并将其渲染成目标风格’的能力，实现了无需配对数据的自监督训练。”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“请大家看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，这是我们提出的 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SAStainDiff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方法的整体框架图。在数字病理图像分析中，由于染色工艺不同，图像风格差异很大，这严重影响了诊断模型的鲁棒性。现有的方法，比如传统的数学方法和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，要么容易在特定组织上失效，要么训练不稳定。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针对这个问题，我们的核心思路是利用扩散模型进行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自监督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的染色标准化。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框架主要分为三个部分：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Forward Process (a)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这是标准的扩散前向过程，我们逐步对目标风格的图像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添加噪声，直到其变成纯噪声。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Stain Augmentation (b)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这是我们的创新点。在训练时，我们并没有使用昂贵的配对数据，而是通过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染色增强模块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进行模拟，生成不同染色风格的图像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𝑐_𝐻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。这个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𝑐_𝐻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就作为我们模型的条件输入。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Reverse Process (c)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在反向去噪过程中，我们将任意染色风格的图像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𝑐_𝐻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作为引导条件。模型的任务是在去噪的同时，根据条件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𝑐_𝐻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恢复出具有目标染色风格的图像，同时完整保留原有的组织结构。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这样一来，模型就学会了‘无视输入图像的染色风格，只关注组织结构，并将其渲染成目标风格’的能力，实现了无需配对数据的自监督训练。”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36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zh-CN" alt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𝒩</m:t>
                      </m:r>
                      <m:d>
                        <m:dPr>
                          <m:sepChr m:val=";"/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ad>
                            <m:radPr>
                              <m:degHide m:val="on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e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𝐈</m:t>
                          </m:r>
                        </m:e>
                      </m:d>
                    </m:oMath>
                  </m:oMathPara>
                </a14:m>
                <a:endParaRPr lang="ar-AE" altLang="zh-CN" b="1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“这是扩散模型的前向过程，我们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逐步对图像添加高斯噪声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，直到变成纯噪声。”</a:t>
                </a:r>
              </a:p>
              <a:p>
                <a:endParaRPr lang="en-US" altLang="zh-CN" dirty="0"/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zh-CN" alt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𝒩</m:t>
                      </m:r>
                      <m:d>
                        <m:dPr>
                          <m:sepChr m:val=";"/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</m:e>
                        <m:e>
                          <m:d>
                            <m:dPr>
                              <m:sepChr m:val=",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altLang="zh-CN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“反向过程是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训练一个神经网络预测噪声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，从纯噪声逐步恢复出图像。”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−1) )=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𝒩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ⓜ;√(1−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)ⓜ;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−1)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𝐈</a:t>
                </a:r>
                <a:r>
                  <a:rPr lang="ar-AE" altLang="zh-CN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endParaRPr lang="ar-AE" altLang="zh-CN" b="1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“这是扩散模型的前向过程，我们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逐步对图像添加高斯噪声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，直到变成纯噪声。”</a:t>
                </a:r>
              </a:p>
              <a:p>
                <a:endParaRPr lang="en-US" altLang="zh-CN" dirty="0"/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−1)∣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)=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𝒩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−1)ⓜ;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ⓜ;(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l-GR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endParaRPr lang="ar-AE" altLang="zh-CN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“反向过程是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训练一个神经网络预测噪声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，从纯噪声逐步恢复出图像。”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599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zh-CN" alt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𝒩</m:t>
                      </m:r>
                      <m:d>
                        <m:dPr>
                          <m:sepChr m:val=";"/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</m:e>
                        <m:e>
                          <m:d>
                            <m:dPr>
                              <m:sepChr m:val=",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ar-AE" altLang="zh-CN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“我们的创新是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引入染色增强图像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c_H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作为条件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，让模型在去噪的同时学习染色风格转换。”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−1)ⓜ,∣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)=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𝒩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−1)ⓜ;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ⓜ;(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𝑡ⓜ,𝑐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</a:t>
                </a:r>
                <a:r>
                  <a:rPr lang="el-GR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𝑡ⓜ,𝑐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)</a:t>
                </a:r>
                <a:endParaRPr lang="ar-AE" altLang="zh-CN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“我们的创新是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引入染色增强图像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c_H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作为条件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，让模型在去噪的同时学习染色风格转换。”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59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blur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zh-CN" alt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d>
                        <m:dPr>
                          <m:sepChr m:val=",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sSub>
                        <m:sSubPr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“在染色增强中，我们还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模拟了扫描仪失焦导致的图像模糊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，让模型学会去模糊。”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PPT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上显示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"blur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𝑥ⓜ,𝑦)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𝑥ⓜ,𝑦)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∗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𝑥ⓜ,𝑦)</a:t>
                </a:r>
                <a:endParaRPr lang="ar-AE" altLang="zh-CN" b="0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你说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“在染色增强中，我们还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模拟了扫描仪失焦导致的图像模糊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，让模型学会去模糊。”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877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“接下来是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。病理图像通常尺寸巨大，我们不得不使用滑动窗口进行分块处理。但这就引入了一个常见问题：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块与块之间的颜色不一致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请看这张图，左边的三张是输入图像。中间这一列是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不使用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我们提出的采样策略的结果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可以看到，在拼接处有明显的‘伪影’和颜色跳变，这会影响后续的病理分析。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而右边这一列是我们采用的方法。我们在扩散模型的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每一步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采样迭代中，都对重叠区域进行平均计算，而不是在最后才合并。这种逐步融合的策略有效地消除了块效应，使得整张图像的颜色过渡非常平滑自然。这保证了我们方法在处理任意尺寸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WSI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时的实用性和美观性。”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27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1.1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扩散模型训练目标的技术细节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“我们的 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SAStainDiff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基于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Denoising Diffusion Probabilistic Models (DDPM)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框架。训练目标函数不是简单的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L1/L2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损失，而是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噪声预测的均方误差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lang="zh-CN" alt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altLang="zh-C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simple</m:t>
                          </m:r>
                        </m:sub>
                      </m:sSub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∥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𝜖</m:t>
                          </m:r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𝜖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zh-CN" altLang="en-US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∥</m:t>
                              </m:r>
                            </m:e>
                            <m:sup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$\epsilon \sim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mathcal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{N}(0,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mathbf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{I})$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是添加的噪声，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$\hat{\epsilon}_{\theta}$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U-Net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预测的噪声，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c_H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是经过染色增强的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条件图像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技术关键点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：我们不是直接预测去噪后的图像，而是预测噪声。这使得模型能更稳定地学习从任意染色风格到目标域的映射，这也是为什么我们的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PSNR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能达到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22.591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的原因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——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精确的噪声估计带来了精确的像素重建。”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1.2 PSNR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指标的技术解读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PSNR (Peak Signal-to-Noise Ratio)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的计算公式为：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/>
                        <m:t>PSNR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MAX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𝐼</m:t>
                                  </m:r>
                                </m:sub>
                                <m:sup>
                                  <m:r>
                                    <a:rPr lang="en-US" altLang="zh-CN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CN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MSE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PSNR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达到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22.591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，比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SIST (22.171)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0.42 dB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。在图像质量评估中，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0.5 dB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的差异就人眼可辨。这一提升来源于我们的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条件扩散机制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：在反向过程中，我们不仅输入带噪图像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x_t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，还拼接条件图像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c_H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作为引导。这相当于在去噪的同时，强制模型参考原始组织结构，从而保留了更多高频细节。”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1.3 MS-SSIM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的技术优势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MS-SSIM (Multi-Scale Structural Similarity)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SSIM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的多尺度扩展，它考虑了图像在不同分辨率下的结构相似性：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/>
                        <m:t>MS</m:t>
                      </m:r>
                      <m:r>
                        <m:rPr>
                          <m:nor/>
                        </m:rPr>
                        <a:rPr lang="en-US" altLang="zh-CN" b="0"/>
                        <m:t>−</m:t>
                      </m:r>
                      <m:r>
                        <m:rPr>
                          <m:nor/>
                        </m:rPr>
                        <a:rPr lang="en-US" altLang="zh-CN" b="0"/>
                        <m:t>SSIM</m:t>
                      </m:r>
                      <m:d>
                        <m:dPr>
                          <m:sepChr m:val=","/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"/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</m:sSup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⋅</m:t>
                          </m:r>
                          <m:nary>
                            <m:naryPr>
                              <m:chr m:val="∏"/>
                              <m:limLoc m:val="subSup"/>
                              <m:grow m:val="on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[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sepChr m:val=","/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200" b="0" i="0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sepChr m:val=","/>
                                      <m:ctrlP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zh-CN" altLang="en-US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zh-CN" altLang="en-US" sz="1200" b="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200" b="0" i="0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zh-CN" altLang="en-US" sz="1200" b="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b="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b="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我们取得了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0.951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MS-SSIM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，比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Jeong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(0.946)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0.005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。为什么重要？因为病理图像在低分辨率下关注组织布局，高分辨率下关注细胞核形态。多尺度评估恰好契合病理图像的多分辨率特性。我们的方法通过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Haar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小波分解的启发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（虽然这里是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，但思路相通），在不同尺度上保持了结构一致性。”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1.4 FSIM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的技术意义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FSIM (Feature Similarity)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是基于相位一致性和梯度幅度的特征级相似度度量：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/>
                        <m:t>FSIM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grow m:val="on"/>
                              <m:supHide m:val="on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zh-CN" altLang="en-US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⋅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sSub>
                            <m:sSub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grow m:val="on"/>
                              <m:supHide m:val="on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zh-CN" altLang="en-US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</m:nary>
                          <m:sSub>
                            <m:sSub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FSIM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达到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0.870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，是所有方法中最高的。这直接证明了我们的方法保留了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相位一致性信息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——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即图像中最重要的边缘和角点特征。在病理图像中，这意味着腺体边界、细胞核轮廓被完整保留，这对后续的诊断任务至关重要。”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1.1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扩散模型训练目标的技术细节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“我们的 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SAStainDiff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基于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Denoising Diffusion Probabilistic Models (DDPM)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框架。训练目标函数不是简单的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L1/L2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损失，而是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噪声预测的均方误差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 ̂_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"simple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𝐸_(𝑡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0,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𝜖) [∥𝜖−𝜖 ̂_𝜃 (𝑥_𝑡ⓜ,𝑡ⓜ,𝑐_𝐻 ) ∥^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]</a:t>
                </a: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$\epsilon \sim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mathcal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{N}(0,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mathbf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{I})$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是添加的噪声，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$\hat{\epsilon}_{\theta}$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U-Net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预测的噪声，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c_H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是经过染色增强的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条件图像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技术关键点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：我们不是直接预测去噪后的图像，而是预测噪声。这使得模型能更稳定地学习从任意染色风格到目标域的映射，这也是为什么我们的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PSNR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能达到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22.591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的原因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——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精确的噪声估计带来了精确的像素重建。”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1.2 PSNR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指标的技术解读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PSNR (Peak Signal-to-Noise Ratio)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的计算公式为：</a:t>
                </a:r>
              </a:p>
              <a:p>
                <a:r>
                  <a:rPr lang="en-US" altLang="zh-CN" b="0" i="0">
                    <a:latin typeface="Cambria Math" panose="02040503050406030204" pitchFamily="18" charset="0"/>
                  </a:rPr>
                  <a:t>"PSNR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"=10⋅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 〗_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10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((〖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"MAX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〗_𝐼^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)/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"MSE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)</a:t>
                </a: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PSNR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达到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22.591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，比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SIST (22.171)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0.42 dB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。在图像质量评估中，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0.5 dB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的差异就人眼可辨。这一提升来源于我们的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条件扩散机制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：在反向过程中，我们不仅输入带噪图像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x_t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，还拼接条件图像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c_H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作为引导。这相当于在去噪的同时，强制模型参考原始组织结构，从而保留了更多高频细节。”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1.3 MS-SSIM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的技术优势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MS-SSIM (Multi-Scale Structural Similarity)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SSIM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的多尺度扩展，它考虑了图像在不同分辨率下的结构相似性：</a:t>
                </a:r>
              </a:p>
              <a:p>
                <a:r>
                  <a:rPr lang="en-US" altLang="zh-CN" b="0" i="0">
                    <a:latin typeface="Cambria Math" panose="02040503050406030204" pitchFamily="18" charset="0"/>
                  </a:rPr>
                  <a:t>"MS−SSIM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zh-CN" altLang="en-US" b="0" i="0"/>
                  <a:t>𝑥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en-US" b="0" i="0"/>
                  <a:t>𝑦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[𝑙_𝑀 (𝑥ⓜ,𝑦) ├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]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┤^(𝛼_𝑀 )⋅∏130_(𝑗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)^𝑀▒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├ 𝑐_𝑗 (𝑥ⓜ,𝑦) ├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]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┤^(𝛽_𝑗 ) [𝑠_𝑗 (𝑥ⓜ,𝑦) ├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]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┤^(𝛾_𝑗 ) ┤┤┤</a:t>
                </a: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我们取得了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0.951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MS-SSIM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，比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Jeong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(0.946)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0.005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。为什么重要？因为病理图像在低分辨率下关注组织布局，高分辨率下关注细胞核形态。多尺度评估恰好契合病理图像的多分辨率特性。我们的方法通过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Haar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小波分解的启发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（虽然这里是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，但思路相通），在不同尺度上保持了结构一致性。”</a:t>
                </a:r>
              </a:p>
              <a:p>
                <a:br>
                  <a:rPr lang="zh-CN" altLang="en-US" dirty="0"/>
                </a:br>
                <a:endParaRPr lang="zh-CN" altLang="en-US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1.4 FSIM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的技术意义</a:t>
                </a:r>
              </a:p>
              <a:p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【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话术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】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FSIM (Feature Similarity)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是基于相位一致性和梯度幅度的特征级相似度度量：</a:t>
                </a:r>
              </a:p>
              <a:p>
                <a:r>
                  <a:rPr lang="en-US" altLang="zh-CN" b="0" i="0">
                    <a:latin typeface="Cambria Math" panose="02040503050406030204" pitchFamily="18" charset="0"/>
                  </a:rPr>
                  <a:t>"FSIM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(∑130_(𝑥∈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)▒𝑆_𝐿  (𝑥)⋅𝑃𝐶_𝑚 (𝑥))/(∑130_(𝑥∈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)▒𝑃 𝐶_𝑚 (𝑥) )</a:t>
                </a: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FSIM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达到 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0.870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，是所有方法中最高的。这直接证明了我们的方法保留了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相位一致性信息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——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即图像中最重要的边缘和角点特征。在病理图像中，这意味着腺体边界、细胞核轮廓被完整保留，这对后续的诊断任务至关重要。”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854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任务背景与挑战：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展示的是在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Camelyon16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数据集上的分类任务。这是一个极具挑战的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跨域验证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：我们只在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中心的图像上训练分类器，然后在未经标准化（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中心图像上测试，准确率只有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48.1%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，几乎等于随机猜测。这突显了染色风格差异对模型泛化能力的巨大阻碍。”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核心指标解读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(Accuracy/F1/AUC)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“经过我们的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SAStainDiff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标准化后，分类器的准确率从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48.1%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飙升到了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80.7%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分数达到了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0.796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达到了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0.884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。这三个指标均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全面超越了所有对比方法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方法的对比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解释为什么赢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“为什么我们比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StainGAN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73.4%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MultiPathGAN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76.3%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）好？正如我们在图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中看到的，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方法在处理跨数据集任务时，容易产生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网格伪影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或过度平滑。这些伪影干扰了分类器对‘肿瘤细胞’和‘正常细胞’的判别边界，导致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分数下降。而我们的扩散模型生成的图像更真实，伪影更少，因此分类器能学到更鲁棒的特征。”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与传统方法的对比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解释为什么赢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“传统方法如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Reinhard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Macenko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虽然速度很快，但在某些复杂组织区域会出现颜色偏差（如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7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Reinhard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的严重色偏），导致分类器性能不稳定。我们的方法是数据驱动的，能自适应地处理各种组织类型，因此性能上限更高。”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小结：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“这一结果表明，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SAStainDiff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作为数据预处理的一环，能有效弥合不同医疗中心的数据分布差异，为构建通用的、跨中心的智能诊断模型提供了可靠保障。”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逐句话术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任务特殊性：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展示的是在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MICCAI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数据集上的分割结果。需要注意的是，这个数据集本身的染色风格差异相对较小，因此我们观察到，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并非所有的标准化方法都能提升分割性能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（对比‘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行）。”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指标解读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(Dice &amp; HD)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“尽管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已经不低，我们的方法依然取得了最优的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Pixel Accuracy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0.866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系数（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0.879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）。特别值得一提的是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Hausdorff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），这是衡量分割边界精度的指标，我们的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达到了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84.596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，远优于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100.794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的失败案例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关键点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“这里需要重点分析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的表现。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的量化指标中表现很好，但在分割任务中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反而比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更低。为什么？正如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7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中红色箭头所示，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红细胞染色错误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，丢失了关键的组织边界信息。这验证了一个重要观点：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只追求颜色相似性是不够的，必须保留组织学结构的完整性。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我们的方法通过高斯模糊增强和扩散模型的强复原能力，成功保留了这些细节。”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的伪影问题：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“再看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7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SAGAN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，它生成了明显的棋盘格伪影。这种伪影会严重混淆分割模型，导致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Hausdorff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升高。而我们的方法生成的图像边界清晰，无伪影，因此分割模型能更准确地勾画出腺体的轮廓。”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小结：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的实验有力地证明了，我们的方法不仅‘好看’，而且‘好用’。它能精准保留对分割任务至关重要的边界信息，即使在染色风格变化不大时，也能提供正向收益。”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399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5F31-9F9E-97CB-D3A8-834BB484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FCB5A2-7892-D71B-8BB8-E34B18672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5E8D71-E1A9-764D-8636-B9E8CD6EF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注：对比了有监督配对训练、无模糊增强和完整方法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逐句话术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实验设计目的：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的消融实验中，我们旨在探究两个问题：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）自监督的染色增强能否替代昂贵的配对数据？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）高斯模糊增强是否有必要？”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pairwise 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有监督上限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“第一行‘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pairwise’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代表使用严格配对的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Aperio-Hamamatsu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图像进行有监督训练。这可以看作是性能的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理论上限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。它取得了最高的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PSNR 23.537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却比我们的方法还低一点（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0.714 vs 0.714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持平）。这背后的原因是：在实际数据中，即使是配对的图像，也存在微小的组织形变和错位，这反而限制了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SSIM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W/o blur (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模糊增强的必要性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“第二行‘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W/o blur’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是去掉了高斯模糊增强的版本。可以看到，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MS-SSIM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0.951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降到了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0.940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PSNR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也大幅下降。这说明，如果训练时只做颜色扰动，不做模糊模拟，模型在处理扫描不清晰或有轻微失焦的图像时，复原能力会大打折扣。我们的高斯模糊增强让模型学会了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‘去模糊’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，从而在实际测试中提升了图像质量。”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结论：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“最终，‘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Ours(full)’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版本在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没有任何真实配对数据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的情况下，达到了与有监督版本相当的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SSIM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，并在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MS-SSIM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上实现了反超（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0.951 &gt; 0.948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）。这强有力地证明了我们提出的染色增强策略是成功的，它让模型学会了跨染色风格的映射，同时避免了依赖难以获取的配对数据。”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191B73-D0A5-960D-A5A6-8637911A9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52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2.1 Dice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系数的定义（原始公式）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Dice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系数用于衡量两个集合的重叠程度：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0"/>
                        <m:t>Dice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∩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</m:num>
                        <m:den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+∣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  <m:r>
                            <a:rPr lang="zh-CN" altLang="en-US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zh-CN" altLang="en-US" b="0" dirty="0"/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：真实的正类体素集合。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：模型预测的正类体素集合。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∩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：既是真实正类，又被模型预测为正类的体素数量（交集）。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：真实正类总数。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：模型预测正类总数。</a:t>
                </a:r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2.2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 </a:t>
                </a:r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分割中的 </a:t>
                </a:r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Soft Dice Loss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公式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为了可微（让神经网络能训练），我们使用软版本，用概率代替硬分类：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CN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Dice</m:t>
                          </m:r>
                        </m:sub>
                      </m:sSub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𝜖</m:t>
                          </m:r>
                        </m:num>
                        <m:den>
                          <m:nary>
                            <m:naryPr>
                              <m:chr m:val="∑"/>
                              <m:grow m:val="on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zh-CN" altLang="en-US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zh-CN" altLang="en-US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zh-CN" altLang="en-US" b="0" dirty="0"/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：总体素数（本例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4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）。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：模型预测体素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属于肝脏的概率。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：真实标签（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或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）。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：一个很小的常数（例如 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），防止分母为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3.1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交叉熵损失公式（二分类情况，每个体素独立计算）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altLang="zh-CN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CE</m:t>
                          </m:r>
                        </m:sub>
                      </m:sSub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altLang="zh-CN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ar-AE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ar-AE" altLang="zh-CN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  <m:r>
                                    <a:rPr lang="ar-AE" altLang="zh-CN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altLang="zh-CN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zh-CN" altLang="ar-AE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  <m: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ar-AE" altLang="zh-CN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  <m:r>
                                    <a:rPr lang="ar-AE" altLang="zh-CN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altLang="zh-CN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ar-AE" sz="1200" b="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ar-AE" altLang="zh-CN" b="0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对每个体素：</a:t>
                </a:r>
              </a:p>
              <a:p>
                <a:pPr lvl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如果它是肝脏（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只看第一项 </a:t>
                </a:r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log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</m:t>
                    </m:r>
                    <m:d>
                      <m:d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pPr lvl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如果它是背景（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只看第二项 </a:t>
                </a:r>
                <a14:m>
                  <m:oMath xmlns:m="http://schemas.openxmlformats.org/officeDocument/2006/math">
                    <m:r>
                      <a:rPr lang="zh-CN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log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</m:t>
                    </m:r>
                    <m:d>
                      <m:d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对所有体素取平均。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损失函数数学关注点在本例中看到了什么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Dice Loss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整体重叠率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看的是全局：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3.2 / 3.9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，关注“预测的肝脏区域和真实的肝脏区域面积（体积）是否匹配”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Cross-Entropy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逐点置信度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看的是局部：体素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虽然对了（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g=1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），但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p=0.7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不够自信，所以被惩罚了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0.3567</a:t>
                </a:r>
              </a:p>
              <a:p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2.1 Dice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系数的定义（原始公式）</a:t>
                </a:r>
              </a:p>
              <a:p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Dice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系数用于衡量两个集合的重叠程度：</a:t>
                </a:r>
              </a:p>
              <a:p>
                <a:r>
                  <a:rPr lang="en-US" altLang="zh-CN" b="0" i="0">
                    <a:latin typeface="Cambria Math" panose="02040503050406030204" pitchFamily="18" charset="0"/>
                  </a:rPr>
                  <a:t>"Dice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2∣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𝑋∩𝑌∣)/(∣𝑋∣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+∣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𝑌∣)</a:t>
                </a:r>
                <a:endParaRPr lang="zh-CN" altLang="en-US" b="0" dirty="0"/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：真实的正类体素集合。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：模型预测的正类体素集合。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∣𝑋∩𝑌∣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：既是真实正类，又被模型预测为正类的体素数量（交集）。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∣𝑋∣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：真实正类总数。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∣𝑌∣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：模型预测正类总数。</a:t>
                </a:r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2.2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 </a:t>
                </a:r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分割中的 </a:t>
                </a:r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Soft Dice Loss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公式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为了可微（让神经网络能训练），我们使用软版本，用概率代替硬分类：</a:t>
                </a:r>
              </a:p>
              <a:p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ℒ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"Dice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=1−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∑128_(𝑖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)^𝑁▒𝑝_𝑖  𝑔_𝑖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𝜖)/(∑128_(𝑖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)^𝑁▒𝑝_𝑖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∑128_(𝑖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)^𝑁▒𝑔_𝑖 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𝜖)</a:t>
                </a:r>
                <a:endParaRPr lang="zh-CN" altLang="en-US" b="0" dirty="0"/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：总体素数（本例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=4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：模型预测体素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属于肝脏的概率。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：真实标签（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或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）。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：一个很小的常数（例如 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𝑒−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），防止分母为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3.1 </a:t>
                </a:r>
                <a:r>
                  <a:rPr lang="zh-CN" alt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交叉熵损失公式（二分类情况，每个体素独立计算）</a:t>
                </a:r>
              </a:p>
              <a:p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ℒ_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"CE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=−1/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∑128_(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=1)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^𝑁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▒[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log⁡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)+(1−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(1−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)] </a:t>
                </a:r>
                <a:endParaRPr lang="ar-AE" altLang="zh-CN" b="0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对每个体素：</a:t>
                </a:r>
              </a:p>
              <a:p>
                <a:pPr lvl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如果它是肝脏（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只看第一项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pPr lvl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如果它是背景（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</a:t>
                </a:r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只看第二项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r>
                  <a:rPr lang="zh-CN" alt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对所有体素取平均。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损失函数数学关注点在本例中看到了什么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Dice Loss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整体重叠率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看的是全局：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3.2 / 3.9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，关注“预测的肝脏区域和真实的肝脏区域面积（体积）是否匹配”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Cross-Entropy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逐点置信度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看的是局部：体素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虽然对了（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g=1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），但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p=0.7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不够自信，所以被惩罚了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0.3567</a:t>
                </a:r>
              </a:p>
              <a:p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941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“请大家看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 (a)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，这是我们提出的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WaveU3S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的总体框架图。在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医学图像分割中，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虽然能捕获长距离依赖，但其计算复杂度是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mathcal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{O}[(HWD)^2 C]$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，随着分辨率增加呈平方级增长。这在实际应用中几乎是不可承受的。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我们的核心思路是：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在计算注意力之前，先无损压缩特征图的空间分辨率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。受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Wave-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ViT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启发，我们将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小波扩展到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，设计了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Wavelet Compression Dual-Attention (WCDA) Block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整个网络采用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型架构：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编码器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：包含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stage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，每个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stage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使用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WCDA Block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提取特征，特征分辨率逐级减半：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$\chi \in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mathbb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{R}^{\frac{H}{2} \times \frac{W}{2} \times \frac{D}{2}}$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解码器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：对应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stage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，通过转置卷积上采样，并与编码器的对应层级跳跃连接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最后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：将解码器输出与最高分辨率特征图融合，恢复空间信息”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/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第一步：通道压缩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输入特征图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$X \in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mathbb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{R}^{H \times W \times D \times C}$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，我们先通过线性变换将通道数压缩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p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sSup>
                        <m:sSup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ℝ</m:t>
                          </m:r>
                        </m:e>
                        <m:sup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f>
                            <m:f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ar-AE" altLang="zh-CN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这一步的目的是降低后续小波变换的计算量。</a:t>
                </a:r>
              </a:p>
              <a:p>
                <a:pPr/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第二步：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小波分解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然后对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$X'$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进行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离散小波变换，沿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三个轴依次分解，得到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个子带：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𝐿𝐿𝐿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𝐿𝐿𝐻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𝐿𝐻𝐿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𝐿𝐻𝐻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𝐻𝐿𝐿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𝐻𝐿𝐻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𝐻𝐻𝐿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𝐻𝐻𝐻</m:t>
                          </m:r>
                        </m:sub>
                      </m:sSub>
                    </m:oMath>
                  </m:oMathPara>
                </a14:m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每个子带的大小为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$\frac{H}{2} \times \frac{W}{2} \times \frac{D}{2} \times \frac{C}{8}$</a:t>
                </a:r>
              </a:p>
              <a:p>
                <a:pPr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数学上，子带通过卷积计算：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𝛼𝛽𝛾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Conv</m:t>
                      </m:r>
                      <m:d>
                        <m:dPr>
                          <m:sepChr m:val=",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ar-AE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sSub>
                            <m:sSub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𝛼𝛽𝛾</m:t>
                              </m:r>
                            </m:sub>
                          </m:sSub>
                        </m:e>
                      </m:d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∀</m:t>
                      </m:r>
                      <m:r>
                        <a:rPr lang="zh-CN" alt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𝛼</m:t>
                      </m:r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zh-CN" alt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𝛽</m:t>
                      </m:r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lang="zh-CN" alt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𝛾</m:t>
                      </m:r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其中滤波器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$W_{\alpha \beta \gamma}$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是通过三个维度上的滤波器张量积得到的：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𝛼𝛽𝛾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sub>
                          </m:sSub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⊗</m:t>
                          </m:r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⊗</m:t>
                      </m:r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ar-AE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我们使用的是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Haar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小波，滤波器很简单：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低通滤波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f_L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\frac{1}{\sqrt{2}}[1, 1]$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高通滤波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f_H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\frac{1}{\sqrt{2}}[1, -1]$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最后将这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个子带在通道维度拼接，得到压缩后的特征图：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𝑑𝑤𝑡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sSup>
                      <m:sSup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ℝ</m:t>
                        </m:r>
                      </m:e>
                      <m:sup>
                        <m:f>
                          <m:f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</m:num>
                          <m:den>
                            <m:r>
                              <a:rPr lang="ar-AE" altLang="zh-CN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f>
                          <m:f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num>
                          <m:den>
                            <m:r>
                              <a:rPr lang="ar-AE" altLang="zh-CN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f>
                          <m:fPr>
                            <m:ctrlPr>
                              <a:rPr lang="ar-AE" altLang="zh-CN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zh-CN" alt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num>
                          <m:den>
                            <m:r>
                              <a:rPr lang="ar-AE" altLang="zh-CN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endParaRPr lang="en-US" altLang="zh-CN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介绍文案：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“传统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只做空间自注意力，计算量巨大。我们提出了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双注意力机制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，同时建模空间和通道关系，且利用小波压缩大幅降低计算量。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具体实现：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空间注意力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：用原始输入投影得到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$Q_s$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，用小波压缩后的特征投影得到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$K_s$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$V_s$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通道注意力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：用原始输入投影得到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Q_c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$n$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次小波压缩后的特征投影得到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K_c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V_c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</a:p>
              <a:p>
                <a:pPr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注意力计算公式：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Softmax</m:t>
                      </m:r>
                      <m:d>
                        <m:dPr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sSub>
                        <m:sSubPr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Softmax</m:t>
                      </m:r>
                      <m:d>
                        <m:dPr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altLang="zh-CN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sSub>
                        <m:sSubPr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ar-AE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关键创新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$d$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是每个注意力头可学习的缩放因子，能动态调整注意力分布的锐度。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计算复杂度分析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空间注意力：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$O(\frac{H^2 W^2 D^2}{2^{3n}} C)$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通道注意力：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$O(C^2 \frac{HWD}{2^3})$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与传统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$O[(HWD)^2 C]$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相比，我们的方法在小波压缩后，空间维度指数级减小，因此计算量大幅降低。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最后，我们将空间注意力输出、通道注意力输出和小波压缩特征拼接，通过线性层和卷积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stem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得到最终输出：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lang="en-US" altLang="zh-CN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Linear</m:t>
                    </m:r>
                    <m:d>
                      <m:dPr>
                        <m:ctrlPr>
                          <a:rPr lang="ar-AE" altLang="zh-CN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Concat</m:t>
                        </m:r>
                        <m:d>
                          <m:dPr>
                            <m:sepChr m:val=","/>
                            <m:ctrlPr>
                              <a:rPr lang="ar-AE" altLang="zh-CN" sz="12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altLang="zh-CN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CN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ar-AE" sz="12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𝑑𝑤𝑡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endParaRPr lang="en-US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 (c)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展示了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小波分解的过程。为什么用小波而不是普通下采样？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因为小波变换是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完全可逆的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。普通的下采样（如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 pooling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）会永久丢失信息，而小波变换将信息分解到不同子带：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低频子带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LLL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：包含主要结构信息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高频子带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LLH, LHL, ...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：包含边缘、纹理等细节信息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在计算完注意力后，我们可以通过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逆小波变换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完美重建原始分辨率，信息零损失。这正是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WaveU3S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能在大幅降低计算量的同时保持高精度的根本原因。”</a:t>
                </a:r>
              </a:p>
              <a:p>
                <a:br>
                  <a:rPr lang="ar-AE" altLang="zh-CN" dirty="0"/>
                </a:b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“请大家看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 (a)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，这是我们提出的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WaveU3S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的总体框架图。在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医学图像分割中，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虽然能捕获长距离依赖，但其计算复杂度是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mathcal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{O}[(HWD)^2 C]$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，随着分辨率增加呈平方级增长。这在实际应用中几乎是不可承受的。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我们的核心思路是：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在计算注意力之前，先无损压缩特征图的空间分辨率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。受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Wave-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ViT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启发，我们将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小波扩展到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，设计了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Wavelet Compression Dual-Attention (WCDA) Block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整个网络采用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型架构：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编码器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：包含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stage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，每个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stage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使用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WCDA Block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提取特征，特征分辨率逐级减半：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$\chi \in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mathbb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{R}^{\frac{H}{2} \times \frac{W}{2} \times \frac{D}{2}}$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解码器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：对应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stage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，通过转置卷积上采样，并与编码器的对应层级跳跃连接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最后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：将解码器输出与最高分辨率特征图融合，恢复空间信息”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第一步：通道压缩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输入特征图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$X \in \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mathbb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{R}^{H \times W \times D \times C}$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，我们先通过线性变换将通道数压缩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^′∈ℝ^(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/8)</a:t>
                </a:r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这一步的目的是降低后续小波变换的计算量。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第二步：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小波分解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然后对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$X'$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进行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离散小波变换，沿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三个轴依次分解，得到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个子带：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𝐿𝐿𝐿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𝐿𝐿𝐻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𝐿𝐻𝐿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𝐿𝐻𝐻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𝐻𝐿𝐿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𝐻𝐿𝐻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𝐻𝐻𝐿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𝐻𝐻𝐻</a:t>
                </a:r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每个子带的大小为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$\frac{H}{2} \times \frac{W}{2} \times \frac{D}{2} \times \frac{C}{8}$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数学上，子带通过卷积计算：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𝛼𝛽𝛾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"Conv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^′ⓜ,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𝛼𝛽𝛾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), ∀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∈{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𝐿ⓜ,𝐻}</a:t>
                </a:r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其中滤波器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$W_{\alpha \beta \gamma}$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是通过三个维度上的滤波器张量积得到的：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𝛼𝛽𝛾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endParaRPr lang="ar-AE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我们使用的是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Haar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小波，滤波器很简单：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低通滤波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f_L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\frac{1}{\sqrt{2}}[1, 1]$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高通滤波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f_H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\frac{1}{\sqrt{2}}[1, -1]$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最后将这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个子带在通道维度拼接，得到压缩后的特征图：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𝑑𝑤𝑡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∈ℝ^(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/2×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/2×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/2×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endParaRPr lang="en-US" altLang="zh-CN" dirty="0"/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介绍文案：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“传统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只做空间自注意力，计算量巨大。我们提出了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双注意力机制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，同时建模空间和通道关系，且利用小波压缩大幅降低计算量。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具体实现：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空间注意力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：用原始输入投影得到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$Q_s$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，用小波压缩后的特征投影得到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$K_s$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$V_s$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通道注意力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：用原始输入投影得到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Q_c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$n$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次小波压缩后的特征投影得到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K_c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V_c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注意力计算公式：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̂_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"Softmax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𝑠^𝑇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)/√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 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b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̂_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"Softmax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𝑐^𝑇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)/√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 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endParaRPr lang="ar-AE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关键创新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$d$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是每个注意力头可学习的缩放因子，能动态调整注意力分布的锐度。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计算复杂度分析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空间注意力：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$O(\frac{H^2 W^2 D^2}{2^{3n}} C)$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通道注意力：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$O(C^2 \frac{HWD}{2^3})$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与传统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Transformer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$O[(HWD)^2 C]$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相比，我们的方法在小波压缩后，空间维度指数级减小，因此计算量大幅降低。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最后，我们将空间注意力输出、通道注意力输出和小波压缩特征拼接，通过线性层和卷积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stem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得到最终输出：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"Linear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"Concat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̂_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̂_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𝑑𝑤𝑡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))</a:t>
                </a:r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endParaRPr lang="en-US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 (c)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展示了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小波分解的过程。为什么用小波而不是普通下采样？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因为小波变换是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完全可逆的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。普通的下采样（如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 pooling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）会永久丢失信息，而小波变换将信息分解到不同子带：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低频子带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LLL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：包含主要结构信息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高频子带 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LLH, LHL, ...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：包含边缘、纹理等细节信息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在计算完注意力后，我们可以通过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3D 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逆小波变换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完美重建原始分辨率，信息零损失。这正是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WaveU3S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能在大幅降低计算量的同时保持高精度的根本原因。”</a:t>
                </a:r>
              </a:p>
              <a:p>
                <a:br>
                  <a:rPr lang="ar-AE" altLang="zh-CN" dirty="0"/>
                </a:b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77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FLARE22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模态：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任务：腹部多器官分割（肝脏、右肾、脾、胰腺等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个器官）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训练集：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张标注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+ 2000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张无标注（使用伪标签）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测试集：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输入尺寸：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$96 \times 192 \times 192$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评估指标：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Dice Similarity Coefficient (DSC)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ACDC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模态：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MRI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任务：心脏结构分割（左心室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、右心室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、心肌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训练集：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测试集：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输入尺寸：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$12 \times 192 \times 192$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评估指标：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DSC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对比方法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：我们选择了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SOTA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方法进行公平比较：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 +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注意力门控</a:t>
            </a: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nnFormer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：交错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：高效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MedFormer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：数据可扩展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所有方法使用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nnUNet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的默认预处理流程，相同的训练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验证划分，保证比较公平性。”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FLARE22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数据集上的定量结果。表格分为上下两部分：上面是只用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张标注数据训练，下面是结合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张无标注数据的伪标签训练。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上半部分（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张标注）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我们的方法平均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达到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94.46%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在胰腺（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）上达到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85.47%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，是所有方法中最高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在脾（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）上达到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96.90%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，同样领先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95.52%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相比，我们的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94.46%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略有差距，但请对比参数数量：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44.5M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参数，而我们只有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24.7M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参数量减少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44%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，性能仅下降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下半部分（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50+2k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张）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加入伪标签后，我们的平均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提升到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90.34%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在胰腺（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）上达到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91.02%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，是所有方法中最高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在十二指肠（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Duo.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）上达到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82.71%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，同样领先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个器官中，我们获得了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个第一、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个第二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的优异成绩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技术解读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：为什么加入伪标签后提升显著？因为我们的轻量级设计（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24.7M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参数）不容易过拟合，能更好地从大量无标注数据中学习通用特征。而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92.6M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）虽然能力强，但在小样本下容易过拟合。”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展示了各方法的参数数量和计算复杂度。这是我们的核心优势：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参数数量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WaveU3S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24.7M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 (92.6M)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(44.5M)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44%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计算量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GFLOPs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：我们只有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233.23 GFLOPs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(233.10)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相当，但比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AttentionUNet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(559.75)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58%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nnFormer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(1215.28)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技术解读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：为什么能做到这么高效？因为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小波压缩将空间分辨率减半后，自注意力的计算量从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$O((HWD)^2 C)$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$O((HWD/8)^2 C)$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。压缩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倍意味着计算量减少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倍！这就是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WaveU3S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能在保持精度的同时大幅降低计算量的核心原因。”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743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080F-7D52-32F2-17C0-F6BFCE3E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73F086-8FF7-20A3-6CF3-31C924580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7AA4F3-C305-8256-A2FF-B828493A1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展示了各方法的参数数量和计算复杂度。这是我们的核心优势：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参数数量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WaveU3S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24.7M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 (92.6M)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(44.5M)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44%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计算量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GFLOPs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：我们只有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233.23 GFLOPs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(233.10)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相当，但比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AttentionUNet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(559.75)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58%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nnFormer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(1215.28)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技术解读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：为什么能做到这么高效？因为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小波压缩将空间分辨率减半后，自注意力的计算量从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$O((HWD)^2 C)$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$O((HWD/8)^2 C)$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。压缩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倍意味着计算量减少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倍！这就是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WaveU3S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能在保持精度的同时大幅降低计算量的核心原因。”</a:t>
            </a:r>
          </a:p>
          <a:p>
            <a:endParaRPr lang="en-US" altLang="zh-CN" dirty="0"/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技术细节要点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：心脏分割、边界精度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介绍文案：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ACDC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心脏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数据集上的结果：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92.89%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，超过所有对比方法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左心室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95.02%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，所有方法中最高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心肌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91.23%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，所有方法中最高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右心室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92.41%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，仅次于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UNETR++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92.34%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（统计上无显著差异）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技术解读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ACDC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数据集的特点是切片数很少（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层），但层内分辨率高。传统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在这样的小尺寸数据上难以发挥全局建模优势，而我们的双注意力机制结合小波压缩，在有限数据下也能学到有效的特征表示。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特别是心肌分割，这是心脏分割中最难的区域，因为心肌壁薄且边界模糊。我们达到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91.23%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，说明小波变换保留的高频细节对精细结构分割至关重要。”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EFCBE0-19EC-5891-AA6C-A4492097E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573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ED5E-D8F8-5D61-F9D9-8C2FA5BB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0B9E2E-6857-ABBE-DF52-1ACA6F68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16806E-1845-70A8-C4F9-41FEE7BDD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FLARE22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数据集上的可视化结果。关键观察点：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在第三行（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#11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）中，其他方法都将右肾和左肾混淆，分割成一整块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而我们的方法能清晰区分左右肾的边界，这得益于小波保留的高频信息，让模型能捕捉到器官间的细微间隙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ACDC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数据集上的可视化结果：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MedFormer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和我们的方法能完整分割出左心室（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其他方法要么漏掉部分区域，要么边界不完整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这说明我们的方法在捕获心脏这种运动器官的复杂形态上具有优势”在说啥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F29C21-4125-DB8D-F977-87628CBD6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71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E73E-FBC5-BCA8-4B1A-8C6CE819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2C6186-F75C-FA58-7BBA-53260EDE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382DF265-7B69-D022-3448-4C89CAD460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对于所有事件时间点，将这些条件概率相乘（假设事件独立），得到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偏似然函数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∏"/>
                          <m:grow m:val="on"/>
                          <m:supHide m:val="on"/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grow m:val="on"/>
                                  <m:supHide m:val="on"/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lang="ar-AE" altLang="zh-CN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∈</m:t>
                                  </m:r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altLang="zh-CN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ar-AE" altLang="zh-CN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p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ar-AE" altLang="zh-CN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ar-AE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表示患者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的事件被观察到（非删失）。</a:t>
                </a:r>
              </a:p>
              <a:p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符号含义解释</a:t>
                </a:r>
                <a:r>
                  <a:rPr lang="en-US" altLang="zh-CN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NLPL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Negative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Log Partial Likelihood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负对数偏似然，我们要最小化的损失函数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回归系数向量模型要估计的参数，形状为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是特征数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个个体的特征向量形状为 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，代表这个人的协变量（年龄、治疗等）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风险得分的线性部分标量，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p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，也叫 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预后指数（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Prognostic Index, PI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endParaRPr lang="en-US" altLang="zh-CN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事件指示符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表示个体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发生了事件（如死亡）；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表示删失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sSub>
                          <m:sSub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/>
                      <m:e/>
                    </m:nary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对所有发生事件的个体求和删失个体不直接出现在求和里，但会影响分母的风险集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个个体的生存时间如果是事件个体，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是事件发生时间；如果是删失，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是删失时间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d>
                      <m:d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风险集在时间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仍然存活且未被删失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的所有个体的集合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d>
                      <m:d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属于风险集的个体包括在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还活着的人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（包括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自己）</a:t>
                </a:r>
                <a:endParaRPr lang="en-US" altLang="zh-C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lang="zh-CN" alt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  <m:d>
                          <m:d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sSup>
                          <m:sSup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风险集内所有人的风险得分之和分母，归一化因子，代表在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时刻“谁可能出事”的总风险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log</m:t>
                        </m:r>
                      </m:fName>
                      <m:e/>
                    </m:func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自然对数把除法变成减法，把乘积变成求和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负号（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取负把最大化问题转成最小化问题，符合损失函数定义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382DF265-7B69-D022-3448-4C89CAD460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对于所有事件时间点，将这些条件概率相乘（假设事件独立），得到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偏似然函数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=∏128_(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: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=1)▒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)/(∑128_(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))▒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)</a:t>
                </a:r>
                <a:endParaRPr lang="ar-AE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 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表示患者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的事件被观察到（非删失）。</a:t>
                </a:r>
              </a:p>
              <a:p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符号含义解释</a:t>
                </a:r>
                <a:r>
                  <a:rPr lang="en-US" altLang="zh-CN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NLPL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Negative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Log Partial Likelihood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负对数偏似然，我们要最小化的损失函数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回归系数向量模型要估计的参数，形状为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是特征数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个个体的特征向量形状为 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1×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，代表这个人的协变量（年龄、治疗等）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𝛽𝑋_𝑖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风险得分的线性部分标量，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𝛽^𝑇 𝑋_𝑖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，也叫 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预后指数（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Prognostic Index, PI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endParaRPr lang="en-US" altLang="zh-CN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事件指示符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表示个体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发生了事件（如死亡）；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表示删失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∑130_(𝑖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: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对所有发生事件的个体求和删失个体不直接出现在求和里，但会影响分母的风险集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个个体的生存时间如果是事件个体，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是事件发生时间；如果是删失，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是删失时间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𝑅(𝑡_𝑖 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风险集在时间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仍然存活且未被删失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的所有个体的集合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𝑗∈𝑅(𝑡_𝑖 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属于风险集的个体包括在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还活着的人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（包括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自己）</a:t>
                </a:r>
                <a:endParaRPr lang="en-US" altLang="zh-C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∑130_(𝑗∈𝑅(𝑡_𝑖 ))▒𝑒^(𝛽𝑋_𝑗 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风险集内所有人的风险得分之和分母，归一化因子，代表在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时刻“谁可能出事”的总风险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自然对数把除法变成减法，把乘积变成求和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负号（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取负把最大化问题转成最小化问题，符合损失函数定义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462E64-1D81-430C-44CB-101D40299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698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7AE8-11BA-9C4D-B28A-D39E8068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ED188E-8942-9773-C45C-6125865DD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8498FA4-24F4-86FB-1F09-DE5B9BBBE6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对于所有事件时间点，将这些条件概率相乘（假设事件独立），得到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偏似然函数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</m:d>
                      <m:r>
                        <a:rPr lang="ar-AE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∏"/>
                          <m:grow m:val="on"/>
                          <m:supHide m:val="on"/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:</m:t>
                          </m:r>
                          <m:sSub>
                            <m:sSub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zh-CN" alt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altLang="zh-CN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altLang="zh-CN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grow m:val="on"/>
                                  <m:supHide m:val="on"/>
                                  <m:ctrlPr>
                                    <a:rPr lang="ar-AE" altLang="zh-CN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  <m:r>
                                    <a:rPr lang="ar-AE" altLang="zh-CN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∈</m:t>
                                  </m:r>
                                  <m:r>
                                    <a:rPr lang="zh-CN" alt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altLang="zh-CN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ar-AE" altLang="zh-CN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ar-AE" altLang="zh-CN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p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ar-AE" altLang="zh-CN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zh-CN" alt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ar-AE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表示患者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的事件被观察到（非删失）。</a:t>
                </a:r>
              </a:p>
              <a:p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符号含义解释</a:t>
                </a:r>
                <a:r>
                  <a:rPr lang="en-US" altLang="zh-CN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NLPL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Negative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Log Partial Likelihood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负对数偏似然，我们要最小化的损失函数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回归系数向量模型要估计的参数，形状为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是特征数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个个体的特征向量形状为 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，代表这个人的协变量（年龄、治疗等）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𝛽</m:t>
                    </m:r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风险得分的线性部分标量，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p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，也叫 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预后指数（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Prognostic Index, PI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endParaRPr lang="en-US" altLang="zh-CN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事件指示符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表示个体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发生了事件（如死亡）；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表示删失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:</m:t>
                        </m:r>
                        <m:sSub>
                          <m:sSub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/>
                      <m:e/>
                    </m:nary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对所有发生事件的个体求和删失个体不直接出现在求和里，但会影响分母的风险集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个个体的生存时间如果是事件个体，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是事件发生时间；如果是删失，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是删失时间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d>
                      <m:d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风险集在时间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仍然存活且未被删失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的所有个体的集合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d>
                      <m:d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属于风险集的个体包括在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还活着的人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（包括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自己）</a:t>
                </a:r>
                <a:endParaRPr lang="en-US" altLang="zh-C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lang="zh-CN" alt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  <m:d>
                          <m:d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sSup>
                          <m:sSupPr>
                            <m:ctrlP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en-US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风险集内所有人的风险得分之和分母，归一化因子，代表在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时刻“谁可能出事”的总风险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log</m:t>
                        </m:r>
                      </m:fName>
                      <m:e/>
                    </m:func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自然对数把除法变成减法，把乘积变成求和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负号（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取负把最大化问题转成最小化问题，符合损失函数定义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8498FA4-24F4-86FB-1F09-DE5B9BBBE6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对于所有事件时间点，将这些条件概率相乘（假设事件独立），得到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偏似然函数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=∏128_(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: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=1)▒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)/(∑128_(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))▒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 )</a:t>
                </a:r>
                <a:endParaRPr lang="ar-AE" altLang="zh-CN" dirty="0"/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其中 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ar-AE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表示患者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的事件被观察到（非删失）。</a:t>
                </a:r>
              </a:p>
              <a:p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符号含义解释</a:t>
                </a:r>
                <a:r>
                  <a:rPr lang="en-US" altLang="zh-CN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NLPL</a:t>
                </a:r>
                <a:r>
                  <a:rPr lang="en-US" altLang="zh-CN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Negative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Log Partial Likelihood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负对数偏似然，我们要最小化的损失函数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回归系数向量模型要估计的参数，形状为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是特征数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个个体的特征向量形状为 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1×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，代表这个人的协变量（年龄、治疗等）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𝛽𝑋_𝑖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风险得分的线性部分标量，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𝛽^𝑇 𝑋_𝑖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，也叫 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预后指数（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Prognostic Index, PI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endParaRPr lang="en-US" altLang="zh-CN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事件指示符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表示个体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发生了事件（如死亡）；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表示删失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∑130_(𝑖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: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对所有发生事件的个体求和删失个体不直接出现在求和里，但会影响分母的风险集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第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个个体的生存时间如果是事件个体，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是事件发生时间；如果是删失，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是删失时间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𝑅(𝑡_𝑖 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风险集在时间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仍然存活且未被删失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的所有个体的集合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𝑗∈𝑅(𝑡_𝑖 )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属于风险集的个体包括在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还活着的人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（包括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自己）</a:t>
                </a:r>
                <a:endParaRPr lang="en-US" altLang="zh-CN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∑130_(𝑗∈𝑅(𝑡_𝑖 ))▒𝑒^(𝛽𝑋_𝑗 )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风险集内所有人的风险得分之和分母，归一化因子，代表在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时刻“谁可能出事”的总风险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自然对数把除法变成减法，把乘积变成求和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负号（</a:t>
                </a:r>
                <a:r>
                  <a:rPr lang="en-US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</a:t>
                </a:r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取负把最大化问题转成最小化问题，符合损失函数定义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3F441F-C3E8-CEF8-17A6-1C17709AF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077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计算示例</a:t>
            </a: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数据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病人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生存时间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是否死亡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风险得分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|------|----------|----------|----------|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删失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步骤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：找所有可比较对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=A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(t=3,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：找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t_j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3$ → B, C, D →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对**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=B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(t=5,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：找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t_j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5$ → D →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对**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=D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(t=7,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：找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t_j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7$ →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 →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对**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**分母总和**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4</a:t>
            </a:r>
          </a:p>
          <a:p>
            <a:pPr latinLnBrk="1"/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步骤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：给每对打分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对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比较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得分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|----|------|------|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A(0.8) vs B(0.6)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&gt; 0.6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A(0.8) vs C(0.7)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&gt; 0.7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A(0.8) vs D(0.4)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&gt; 0.4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B(0.6) vs D(0.4)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 &gt; 0.4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**分子总和**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步骤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：计算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$$C = \frac{4}{4} = 1.0$$</a:t>
            </a:r>
          </a:p>
          <a:p>
            <a:pPr latinLnBrk="1"/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取值范围与解释</a:t>
            </a: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解释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|-----|------|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1.0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完美预测：所有死得早的人风险得分都更高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随机猜测：和抛硬币一样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 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完全反向：预测顺序与实际完全相反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为什么适用于生存分析？</a:t>
            </a: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Cox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模型的训练目标（偏似然函数）：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$$L(\beta) = \prod_{i:\delta_i=1} \frac{e^{\beta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}}{\sum_{j \in R(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t_i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)} e^{\beta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X_j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}}$$</a:t>
            </a:r>
          </a:p>
          <a:p>
            <a:pPr latinLnBrk="1"/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训练时：在每个事件时间点，最大化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**当前死者得分高于当前所有生者得分**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的概率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评测时：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C-index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**所有先死者得分高于后死者得分**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的全局概率</a:t>
            </a: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**两者逻辑高度一致**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C-index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是训练目标的自然延伸。</a:t>
            </a: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关键要点</a:t>
            </a:r>
          </a:p>
          <a:p>
            <a:pPr latinLnBrk="1"/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问题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答案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|------|------|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模型输出什么？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风险得分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$r = \beta X$ 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C-index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评价什么？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风险得分的排序与生存时间排序的一致性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删失数据如何处理？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只保留可比较对，删失者可以出现在分母中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平手如何处理？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得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967E1E-9A79-42AA-8333-1CA7E621B69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0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64D03-9F28-626B-19F5-90081AD1D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EF40D8-0763-0E2A-C1EF-5343950A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10443-E89B-EABA-24BA-5C870246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F8B1D-69F3-0D08-2E9F-8FD1DDE6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CFF271-C6FE-BC77-C1CD-D8E09415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86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6BFF4-0E42-D07F-BC4B-19DDE99D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02D49-A139-6434-786A-DB8E32FFC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E13034-B509-A98C-70D7-96E893278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31855-A4FB-8BCF-A256-318AFF62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3DB7C7-7C66-BC71-2549-EB81BA32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6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A71C9-F307-A02C-AA37-B1FA37B2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1F9D88-43E4-8104-111F-69821A235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F00E4-176E-A765-9795-47C3F739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282C0D-88DD-6783-85FF-3A18F052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BEE447-F0EB-BD77-FA32-D2A4332A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2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7C410-4A5D-4977-24FC-103F5D475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E3E76-F335-03F6-E9AB-78FD00D9B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CCDB61-12DB-ECFD-C593-160E90853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F45FB0-6A2D-8917-39C9-3D09013B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24EF0E-ED07-862D-9162-44708AF9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3B14BE-2101-5228-4E13-603280EF3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6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80F20-793E-7D6B-68A4-131FC0D4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8BAD9A-C2FB-1511-BE74-401E745B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A0B385-4F96-CACC-C410-ABE24E548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E92A1D-C0CD-A368-0DAD-3C03B9C6A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4F21C1-3467-01B7-8641-AD406F18D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1E909D-6211-CB9E-A011-62EBD1BE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F1F9A6-BA79-9AFD-09DA-5C9ED5F7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CC522D-D0E4-9BAA-81AF-EFFD181A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12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F6264-F8AC-754D-9151-A1B28489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E616BD-74CB-8392-9611-A11AAE46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745632-5672-8019-5272-75BA87C9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F0FE2-A00B-ADAF-EEE9-2A5E2689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06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9A40D0-F1AD-1F3A-3872-BE92F5C0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332D8A-A075-EF36-D803-12F39721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B1FAC0-6161-D8CF-42E7-5E927C44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05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857E2-7E9E-00E9-9EB6-CB6BAA40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83CD17-0F9A-220C-B384-22133F26D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57DEAA-B994-EFF6-DA53-74ACE2371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5D184F-6D56-B1C1-40D4-2AD7F253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24C898-0394-D5F0-B769-57A02E5F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BDCE27-E180-7A93-9EB7-0840FB4F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36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BE418-7D41-BE99-6A26-BF09956B2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8D1063-A5A4-AEE2-DEC6-026DACFD2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1114CC-228F-69BA-EB85-B9E18F599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CE559A-0A21-F9D4-5ACA-854FA7FD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23C07-83A1-74D5-BA9D-1F0875D9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7F3FD-5F67-A19D-4F93-62F635246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2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BBF20-D147-CA1A-4695-35F912C0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60E460-1674-5BBB-1133-A7E8D4267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9E724-5E06-EDB0-DC1D-0B616810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54F69-72E2-9B84-0FE4-3017D6D4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70DB30-2C95-B766-E87E-EE8D9305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4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48D9F4-829A-F5DB-3C2E-16046F171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4F25D8-5FE8-585D-26F8-7A143159D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DBC89-CD3B-1ADD-F46F-F409A886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79F04-8BB7-172C-2C96-A7C313A40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538AE-09D9-C424-5857-A5ECD34B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99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22A7AA-10A7-5F49-219E-1C4D434C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8CF7F0-2FA3-F1A1-4FF7-AC52514C5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536970-A316-1794-347C-8AE40D76B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6D34C-F386-4CDD-8B9F-31C9DD0A44BF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460C1F-AF1F-D1D6-D581-5F0658231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6BB1C-B553-4CB7-4A7E-691F429F8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88DDE-CAC5-433D-8C61-B612FB7CC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80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85A3C-B5F4-A286-2626-7F7078BCE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深度学习在病理图像分析中的研究进展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410DF9-F0C1-4073-17B7-678B823FD2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WSI</a:t>
            </a:r>
            <a:r>
              <a:rPr lang="zh-CN" altLang="en-US" dirty="0"/>
              <a:t>生存预测、染色归一化与</a:t>
            </a:r>
            <a:r>
              <a:rPr lang="en-US" altLang="zh-CN" dirty="0"/>
              <a:t>3D</a:t>
            </a:r>
            <a:r>
              <a:rPr lang="zh-CN" altLang="en-US" dirty="0"/>
              <a:t>医学图像分割</a:t>
            </a:r>
          </a:p>
        </p:txBody>
      </p:sp>
    </p:spTree>
    <p:extLst>
      <p:ext uri="{BB962C8B-B14F-4D97-AF65-F5344CB8AC3E}">
        <p14:creationId xmlns:p14="http://schemas.microsoft.com/office/powerpoint/2010/main" val="352332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B05F731-869C-A50B-D3CD-63A69849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汇报大纲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2F4D6-0EED-7976-E51B-F20B2288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研究背景与意义</a:t>
            </a:r>
          </a:p>
          <a:p>
            <a:r>
              <a:rPr lang="en-US" altLang="zh-CN" dirty="0"/>
              <a:t>WSI</a:t>
            </a:r>
            <a:r>
              <a:rPr lang="zh-CN" altLang="en-US" dirty="0"/>
              <a:t>生存预测综述</a:t>
            </a:r>
          </a:p>
          <a:p>
            <a:r>
              <a:rPr lang="zh-CN" altLang="en-US" dirty="0"/>
              <a:t>染色归一化新方法：</a:t>
            </a:r>
            <a:r>
              <a:rPr lang="en-US" altLang="zh-CN" dirty="0" err="1"/>
              <a:t>SAStainDiff</a:t>
            </a:r>
            <a:endParaRPr lang="en-US" altLang="zh-CN" dirty="0"/>
          </a:p>
          <a:p>
            <a:r>
              <a:rPr lang="zh-CN" altLang="en-US" dirty="0"/>
              <a:t>轻量化</a:t>
            </a:r>
            <a:r>
              <a:rPr lang="en-US" altLang="zh-CN" dirty="0"/>
              <a:t>3D</a:t>
            </a:r>
            <a:r>
              <a:rPr lang="zh-CN" altLang="en-US" dirty="0"/>
              <a:t>分割模型：</a:t>
            </a:r>
            <a:r>
              <a:rPr lang="en-US" altLang="zh-CN" dirty="0"/>
              <a:t>WaveU3S</a:t>
            </a:r>
          </a:p>
          <a:p>
            <a:r>
              <a:rPr lang="zh-CN" altLang="en-US" dirty="0"/>
              <a:t>总结与未来展望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5073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83B5F43-43FA-7304-5E0B-CA0BEC88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研究背景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0ED9C8-C3B9-63B0-CE08-C8EE05366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数字病理学快速发展，</a:t>
            </a:r>
            <a:r>
              <a:rPr lang="en-US" altLang="zh-CN" dirty="0"/>
              <a:t>WSI</a:t>
            </a:r>
            <a:r>
              <a:rPr lang="zh-CN" altLang="en-US" dirty="0"/>
              <a:t>成为癌症诊断与预后预测的重要工具</a:t>
            </a:r>
          </a:p>
          <a:p>
            <a:r>
              <a:rPr lang="zh-CN" altLang="en-US" dirty="0"/>
              <a:t>深度学习在病理图像分析中展现出巨大潜力</a:t>
            </a:r>
          </a:p>
          <a:p>
            <a:r>
              <a:rPr lang="zh-CN" altLang="en-US" dirty="0"/>
              <a:t>面临三大挑战：</a:t>
            </a:r>
          </a:p>
          <a:p>
            <a:pPr lvl="1"/>
            <a:r>
              <a:rPr lang="en-US" altLang="zh-CN" dirty="0"/>
              <a:t>WSI</a:t>
            </a:r>
            <a:r>
              <a:rPr lang="zh-CN" altLang="en-US" dirty="0"/>
              <a:t>超高分辦率与信息稀疏性</a:t>
            </a:r>
          </a:p>
          <a:p>
            <a:pPr lvl="1"/>
            <a:r>
              <a:rPr lang="zh-CN" altLang="en-US" dirty="0"/>
              <a:t>染色风格差异导致模型泛化能力下降</a:t>
            </a:r>
          </a:p>
          <a:p>
            <a:pPr lvl="1"/>
            <a:r>
              <a:rPr lang="en-US" altLang="zh-CN" dirty="0"/>
              <a:t>3D</a:t>
            </a:r>
            <a:r>
              <a:rPr lang="zh-CN" altLang="en-US" dirty="0"/>
              <a:t>医学图像分割计算成本高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012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B2FECE-1B89-8965-9DC4-8D4B59FE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染色归一化新方法：</a:t>
            </a:r>
            <a:r>
              <a:rPr lang="en-US" altLang="zh-CN" b="1">
                <a:solidFill>
                  <a:srgbClr val="FFFFFF"/>
                </a:solidFill>
              </a:rPr>
              <a:t>SAStainDiff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3725F5-4DA4-800D-5764-4334BE4E6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b="1" dirty="0"/>
              <a:t>论文题目：</a:t>
            </a:r>
            <a:r>
              <a:rPr lang="zh-CN" altLang="en-US" dirty="0"/>
              <a:t> </a:t>
            </a:r>
            <a:r>
              <a:rPr lang="en-US" altLang="zh-CN" dirty="0" err="1"/>
              <a:t>SAStainDiff</a:t>
            </a:r>
            <a:r>
              <a:rPr lang="en-US" altLang="zh-CN" dirty="0"/>
              <a:t>: Self-supervised Stain Normalization by Stain Augmentation using Denoising Diffusion Probabilistic Models</a:t>
            </a:r>
            <a:br>
              <a:rPr lang="en-US" altLang="zh-CN" dirty="0"/>
            </a:br>
            <a:r>
              <a:rPr lang="zh-CN" altLang="en-US" b="1" dirty="0"/>
              <a:t>核心创新：</a:t>
            </a:r>
            <a:endParaRPr lang="zh-CN" altLang="en-US" dirty="0"/>
          </a:p>
          <a:p>
            <a:r>
              <a:rPr lang="zh-CN" altLang="en-US" dirty="0"/>
              <a:t>基于扩散模型的自监督染色归一化</a:t>
            </a:r>
          </a:p>
          <a:p>
            <a:r>
              <a:rPr lang="zh-CN" altLang="en-US" dirty="0"/>
              <a:t>无需配对数据，通过染色增强模拟多种风格</a:t>
            </a:r>
          </a:p>
          <a:p>
            <a:r>
              <a:rPr lang="zh-CN" altLang="en-US" dirty="0"/>
              <a:t>保留组织结构，提升下游任务性能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00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648182A-4A6A-53D6-A7C3-B8E5CCC4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altLang="zh-CN" b="1" dirty="0" err="1">
                <a:solidFill>
                  <a:srgbClr val="FFFFFF"/>
                </a:solidFill>
              </a:rPr>
              <a:t>SAStainDiff</a:t>
            </a:r>
            <a:r>
              <a:rPr lang="en-US" altLang="zh-CN" b="1" dirty="0">
                <a:solidFill>
                  <a:srgbClr val="FFFFFF"/>
                </a:solidFill>
              </a:rPr>
              <a:t> </a:t>
            </a:r>
            <a:r>
              <a:rPr lang="zh-CN" altLang="en-US" b="1" dirty="0">
                <a:solidFill>
                  <a:srgbClr val="FFFFFF"/>
                </a:solidFill>
              </a:rPr>
              <a:t>方法框架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CBDD9-D69B-0B10-AD92-8748A1722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扩散模型前向加噪 </a:t>
            </a:r>
            <a:r>
              <a:rPr lang="en-US" altLang="zh-CN" dirty="0"/>
              <a:t>+ </a:t>
            </a:r>
            <a:r>
              <a:rPr lang="zh-CN" altLang="en-US" dirty="0"/>
              <a:t>反向去噪</a:t>
            </a:r>
          </a:p>
          <a:p>
            <a:r>
              <a:rPr lang="zh-CN" altLang="en-US" dirty="0"/>
              <a:t>条件控制：以染色增强图像为条件引导生成</a:t>
            </a:r>
          </a:p>
          <a:p>
            <a:r>
              <a:rPr lang="zh-CN" altLang="en-US" dirty="0"/>
              <a:t>采样策略：滑动窗口</a:t>
            </a:r>
            <a:r>
              <a:rPr lang="en-US" altLang="zh-CN" dirty="0"/>
              <a:t>+</a:t>
            </a:r>
            <a:r>
              <a:rPr lang="zh-CN" altLang="en-US" dirty="0"/>
              <a:t>平均融合，消除块状伪影</a:t>
            </a:r>
          </a:p>
          <a:p>
            <a:r>
              <a:rPr lang="zh-CN" altLang="en-US" dirty="0"/>
              <a:t>染色增强：随机扰动</a:t>
            </a:r>
            <a:r>
              <a:rPr lang="en-US" altLang="zh-CN" dirty="0"/>
              <a:t>LAB/HSV/HED</a:t>
            </a:r>
            <a:r>
              <a:rPr lang="zh-CN" altLang="en-US" dirty="0"/>
              <a:t>空间 </a:t>
            </a:r>
            <a:r>
              <a:rPr lang="en-US" altLang="zh-CN" dirty="0"/>
              <a:t>+ </a:t>
            </a:r>
            <a:r>
              <a:rPr lang="zh-CN" altLang="en-US" dirty="0"/>
              <a:t>高斯模糊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714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B47C0-A63D-77FC-0AF9-CD8F06E3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SAStainDiff </a:t>
            </a:r>
            <a:r>
              <a:rPr lang="zh-CN" altLang="en-US" b="1"/>
              <a:t>方法框架</a:t>
            </a:r>
            <a:endParaRPr lang="zh-CN" altLang="en-US" dirty="0"/>
          </a:p>
        </p:txBody>
      </p:sp>
      <p:pic>
        <p:nvPicPr>
          <p:cNvPr id="5" name="内容占位符 4" descr="日程表&#10;&#10;AI 生成的内容可能不正确。">
            <a:extLst>
              <a:ext uri="{FF2B5EF4-FFF2-40B4-BE49-F238E27FC236}">
                <a16:creationId xmlns:a16="http://schemas.microsoft.com/office/drawing/2014/main" id="{53E5E5A5-AC0B-1FEE-922B-058CB6BFA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06698" y="1825625"/>
            <a:ext cx="91786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6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79632D9-14FF-FCE8-A868-D122AA69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SAStainDiff </a:t>
            </a:r>
            <a:r>
              <a:rPr lang="zh-CN" alt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方法框架</a:t>
            </a:r>
            <a:endParaRPr lang="en-US" altLang="zh-CN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内容占位符 11" descr="手机屏幕截图&#10;&#10;AI 生成的内容可能不正确。">
            <a:extLst>
              <a:ext uri="{FF2B5EF4-FFF2-40B4-BE49-F238E27FC236}">
                <a16:creationId xmlns:a16="http://schemas.microsoft.com/office/drawing/2014/main" id="{B131C54C-A7A0-D9B2-6F75-2B8BB56A1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5" y="1741135"/>
            <a:ext cx="7383609" cy="367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4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D131B-AA28-CBFC-E1FB-CF17B3A5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55E7B9-EB6E-3C9B-4BD0-FFD7EB91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SAStainDiff </a:t>
            </a:r>
            <a:r>
              <a:rPr lang="zh-CN" alt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方法框架</a:t>
            </a:r>
            <a:endParaRPr lang="en-US" altLang="zh-CN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图片 16" descr="文本, 信件&#10;&#10;AI 生成的内容可能不正确。">
            <a:extLst>
              <a:ext uri="{FF2B5EF4-FFF2-40B4-BE49-F238E27FC236}">
                <a16:creationId xmlns:a16="http://schemas.microsoft.com/office/drawing/2014/main" id="{3A94E297-BC6B-09DB-A885-BE64E45C6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205" y="1736424"/>
            <a:ext cx="7016058" cy="317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4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5E1CBD-6FD8-7251-710C-395AFA041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染色增强流程</a:t>
            </a: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9142C609-E084-522B-5896-54ED45070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1003736"/>
            <a:ext cx="6780700" cy="48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64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C43857-30B0-7F61-294D-A76137F9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SAStainDiff </a:t>
            </a:r>
            <a:r>
              <a:rPr lang="zh-CN" alt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方法框架</a:t>
            </a:r>
            <a:endParaRPr lang="en-US" altLang="zh-CN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内容占位符 4" descr="图片包含 图示&#10;&#10;AI 生成的内容可能不正确。">
            <a:extLst>
              <a:ext uri="{FF2B5EF4-FFF2-40B4-BE49-F238E27FC236}">
                <a16:creationId xmlns:a16="http://schemas.microsoft.com/office/drawing/2014/main" id="{DB46C8D7-7999-9971-750C-1BC4C13D1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1003735"/>
            <a:ext cx="6780700" cy="48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93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0990F63-7AF4-C2C3-F596-C8ED8334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实验结果对比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1AFE0C-107C-BAD0-E784-0B254EAAB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数据集：</a:t>
            </a:r>
            <a:r>
              <a:rPr lang="en-US" altLang="zh-CN" dirty="0"/>
              <a:t>MITOS-ATYPIA'14, Camelyon16, MICCAI'15 </a:t>
            </a:r>
            <a:r>
              <a:rPr lang="en-US" altLang="zh-CN" dirty="0" err="1"/>
              <a:t>GlaS</a:t>
            </a:r>
            <a:endParaRPr lang="en-US" altLang="zh-CN" dirty="0"/>
          </a:p>
          <a:p>
            <a:r>
              <a:rPr lang="zh-CN" altLang="en-US" dirty="0"/>
              <a:t>指标：</a:t>
            </a:r>
            <a:r>
              <a:rPr lang="en-US" altLang="zh-CN" dirty="0"/>
              <a:t>PSNR, SSIM, FSIM, MS-SSIM, PCC</a:t>
            </a:r>
          </a:p>
          <a:p>
            <a:r>
              <a:rPr lang="zh-CN" altLang="en-US" dirty="0"/>
              <a:t>优势：</a:t>
            </a:r>
          </a:p>
          <a:p>
            <a:pPr lvl="1"/>
            <a:r>
              <a:rPr lang="zh-CN" altLang="en-US" dirty="0"/>
              <a:t>在定量指标上优于</a:t>
            </a:r>
            <a:r>
              <a:rPr lang="en-US" altLang="zh-CN" dirty="0"/>
              <a:t>GAN</a:t>
            </a:r>
            <a:r>
              <a:rPr lang="zh-CN" altLang="en-US" dirty="0"/>
              <a:t>方法</a:t>
            </a:r>
          </a:p>
          <a:p>
            <a:pPr lvl="1"/>
            <a:r>
              <a:rPr lang="zh-CN" altLang="en-US" dirty="0"/>
              <a:t>分类任务中提升</a:t>
            </a:r>
            <a:r>
              <a:rPr lang="en-US" altLang="zh-CN" dirty="0"/>
              <a:t>Accuracy</a:t>
            </a:r>
            <a:r>
              <a:rPr lang="zh-CN" altLang="en-US" dirty="0"/>
              <a:t>与</a:t>
            </a:r>
            <a:r>
              <a:rPr lang="en-US" altLang="zh-CN" dirty="0"/>
              <a:t>AUC</a:t>
            </a:r>
          </a:p>
          <a:p>
            <a:pPr lvl="1"/>
            <a:r>
              <a:rPr lang="zh-CN" altLang="en-US" dirty="0"/>
              <a:t>分割任务中保留纹理信息，避免伪影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183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22E0F03-A0B6-B971-0D01-40F248B2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实验结果对比</a:t>
            </a:r>
            <a:endParaRPr lang="en-US" altLang="zh-CN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内容占位符 4" descr="表格&#10;&#10;AI 生成的内容可能不正确。">
            <a:extLst>
              <a:ext uri="{FF2B5EF4-FFF2-40B4-BE49-F238E27FC236}">
                <a16:creationId xmlns:a16="http://schemas.microsoft.com/office/drawing/2014/main" id="{E394B16E-28B8-4ACF-AB4F-8071A15A9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698604"/>
            <a:ext cx="6780700" cy="54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43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C92592-36A8-3A24-50FF-6DA9F89E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6600" b="1"/>
              <a:t>实验结果对比</a:t>
            </a:r>
            <a:endParaRPr lang="en-US" altLang="zh-CN" sz="66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 descr="表格&#10;&#10;AI 生成的内容可能不正确。">
            <a:extLst>
              <a:ext uri="{FF2B5EF4-FFF2-40B4-BE49-F238E27FC236}">
                <a16:creationId xmlns:a16="http://schemas.microsoft.com/office/drawing/2014/main" id="{017AF3D5-BD84-3E09-73F7-8F355226C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07" y="2642616"/>
            <a:ext cx="4667681" cy="3605784"/>
          </a:xfrm>
          <a:prstGeom prst="rect">
            <a:avLst/>
          </a:prstGeom>
        </p:spPr>
      </p:pic>
      <p:pic>
        <p:nvPicPr>
          <p:cNvPr id="15" name="图片 14" descr="表格&#10;&#10;AI 生成的内容可能不正确。">
            <a:extLst>
              <a:ext uri="{FF2B5EF4-FFF2-40B4-BE49-F238E27FC236}">
                <a16:creationId xmlns:a16="http://schemas.microsoft.com/office/drawing/2014/main" id="{E3E20C63-C1A7-2093-FF56-DE6393EE5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176" y="2642616"/>
            <a:ext cx="5043055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2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274E-037D-DCB2-E476-29658B15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753FB-05AE-7D14-0ED7-4B9FD21C2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6600" b="1"/>
              <a:t>实验结果对比</a:t>
            </a:r>
            <a:endParaRPr lang="en-US" altLang="zh-CN" sz="6600"/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8AEA69C5-7115-A00B-9929-0D75E8C35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576" y="2609532"/>
            <a:ext cx="65722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12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E6FE6D9-9C7B-5864-B9E9-8E579408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轻量化</a:t>
            </a:r>
            <a:r>
              <a:rPr lang="en-US" altLang="zh-CN" b="1">
                <a:solidFill>
                  <a:srgbClr val="FFFFFF"/>
                </a:solidFill>
              </a:rPr>
              <a:t>3D</a:t>
            </a:r>
            <a:r>
              <a:rPr lang="zh-CN" altLang="en-US" b="1">
                <a:solidFill>
                  <a:srgbClr val="FFFFFF"/>
                </a:solidFill>
              </a:rPr>
              <a:t>分割模型：</a:t>
            </a:r>
            <a:r>
              <a:rPr lang="en-US" altLang="zh-CN" b="1">
                <a:solidFill>
                  <a:srgbClr val="FFFFFF"/>
                </a:solidFill>
              </a:rPr>
              <a:t>WaveU3S</a:t>
            </a:r>
            <a:endParaRPr lang="zh-CN" altLang="en-US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1718564F-98A9-631E-E899-E0623E640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69211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235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2414ACE-1512-EFAC-7424-8A173B7C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FFFFFF"/>
                </a:solidFill>
              </a:rPr>
              <a:t>WaveU3S </a:t>
            </a:r>
            <a:r>
              <a:rPr lang="zh-CN" altLang="en-US" b="1">
                <a:solidFill>
                  <a:srgbClr val="FFFFFF"/>
                </a:solidFill>
              </a:rPr>
              <a:t>网络结构</a:t>
            </a:r>
            <a:endParaRPr lang="zh-CN" altLang="en-US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0C1EC770-4323-C6FD-B955-7389311173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87918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4058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A624-C62E-A157-B8E4-A08EFEC1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5296C-3075-EB5B-4851-0C5FE5F9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WaveU3S </a:t>
            </a:r>
            <a:r>
              <a:rPr lang="zh-CN" altLang="en-US" b="1"/>
              <a:t>网络结构</a:t>
            </a:r>
            <a:endParaRPr lang="zh-CN" altLang="en-US" dirty="0"/>
          </a:p>
        </p:txBody>
      </p:sp>
      <p:pic>
        <p:nvPicPr>
          <p:cNvPr id="5" name="内容占位符 4" descr="图示, 示意图&#10;&#10;AI 生成的内容可能不正确。">
            <a:extLst>
              <a:ext uri="{FF2B5EF4-FFF2-40B4-BE49-F238E27FC236}">
                <a16:creationId xmlns:a16="http://schemas.microsoft.com/office/drawing/2014/main" id="{570EDBA5-C576-E908-3F01-C171F2743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4216" y="1825625"/>
            <a:ext cx="80435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56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9F3F25-6D73-7A2B-8247-2A45BDC2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zh-CN" altLang="en-US" sz="4000" b="1"/>
              <a:t>实验结果与对比</a:t>
            </a:r>
            <a:endParaRPr lang="zh-CN" alt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7803A-C3B8-0B4A-384B-870CC1EF3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zh-CN" altLang="en-US" sz="2000" dirty="0"/>
              <a:t>数据集：</a:t>
            </a:r>
            <a:r>
              <a:rPr lang="en-US" altLang="zh-CN" sz="2000" dirty="0"/>
              <a:t>FLARE22</a:t>
            </a:r>
            <a:r>
              <a:rPr lang="zh-CN" altLang="en-US" sz="2000" dirty="0"/>
              <a:t>（</a:t>
            </a:r>
            <a:r>
              <a:rPr lang="en-US" altLang="zh-CN" sz="2000" dirty="0"/>
              <a:t>CT</a:t>
            </a:r>
            <a:r>
              <a:rPr lang="zh-CN" altLang="en-US" sz="2000" dirty="0"/>
              <a:t>）、</a:t>
            </a:r>
            <a:r>
              <a:rPr lang="en-US" altLang="zh-CN" sz="2000" dirty="0"/>
              <a:t>ACDC</a:t>
            </a:r>
            <a:r>
              <a:rPr lang="zh-CN" altLang="en-US" sz="2000" dirty="0"/>
              <a:t>（</a:t>
            </a:r>
            <a:r>
              <a:rPr lang="en-US" altLang="zh-CN" sz="2000" dirty="0"/>
              <a:t>MRI</a:t>
            </a:r>
            <a:r>
              <a:rPr lang="zh-CN" altLang="en-US" sz="2000" dirty="0"/>
              <a:t>）</a:t>
            </a:r>
          </a:p>
          <a:p>
            <a:r>
              <a:rPr lang="zh-CN" altLang="en-US" sz="2000" dirty="0"/>
              <a:t>对比方法：</a:t>
            </a:r>
            <a:r>
              <a:rPr lang="en-US" altLang="zh-CN" sz="2000" dirty="0"/>
              <a:t>UNETR, </a:t>
            </a:r>
            <a:r>
              <a:rPr lang="en-US" altLang="zh-CN" sz="2000" dirty="0" err="1"/>
              <a:t>AttentionUNet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nnFormer</a:t>
            </a:r>
            <a:r>
              <a:rPr lang="en-US" altLang="zh-CN" sz="2000" dirty="0"/>
              <a:t>, UNETR++</a:t>
            </a:r>
          </a:p>
          <a:p>
            <a:r>
              <a:rPr lang="zh-CN" altLang="en-US" sz="2000" dirty="0"/>
              <a:t>指标：</a:t>
            </a:r>
            <a:r>
              <a:rPr lang="en-US" altLang="zh-CN" sz="2000" dirty="0"/>
              <a:t>DSC, </a:t>
            </a:r>
            <a:r>
              <a:rPr lang="zh-CN" altLang="en-US" sz="2000" dirty="0"/>
              <a:t>参数量</a:t>
            </a:r>
            <a:r>
              <a:rPr lang="en-US" altLang="zh-CN" sz="2000" dirty="0"/>
              <a:t>, GFLOPs</a:t>
            </a:r>
          </a:p>
          <a:p>
            <a:r>
              <a:rPr lang="zh-CN" altLang="en-US" sz="2000" dirty="0"/>
              <a:t>优势：</a:t>
            </a:r>
          </a:p>
          <a:p>
            <a:pPr lvl="1"/>
            <a:r>
              <a:rPr lang="zh-CN" altLang="en-US" sz="2000" dirty="0"/>
              <a:t>参数量少，计算效率高</a:t>
            </a:r>
          </a:p>
          <a:p>
            <a:pPr lvl="1"/>
            <a:r>
              <a:rPr lang="zh-CN" altLang="en-US" sz="2000" dirty="0"/>
              <a:t>在多个器官分割中表现优异</a:t>
            </a:r>
          </a:p>
          <a:p>
            <a:pPr lvl="1"/>
            <a:r>
              <a:rPr lang="zh-CN" altLang="en-US" sz="2000" dirty="0"/>
              <a:t>可视化结果更精细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53516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25009-AB69-A462-F5CC-4F937FE8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C886788-700E-4D20-9F80-E0E96837A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1850674C-4E08-4C62-A3E2-6337FE4F7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BCE4FF05-2B0C-4C97-A9B4-E163085A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B82EBE1-D15C-B702-D4E8-7253256C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1124712"/>
            <a:ext cx="4023360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4800" b="1"/>
              <a:t>实验结果与对比</a:t>
            </a:r>
            <a:endParaRPr lang="en-US" altLang="zh-CN" sz="4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9C2A7A-A6B6-4A56-B11C-8E967D88A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图片 16" descr="表格&#10;&#10;AI 生成的内容可能不正确。">
            <a:extLst>
              <a:ext uri="{FF2B5EF4-FFF2-40B4-BE49-F238E27FC236}">
                <a16:creationId xmlns:a16="http://schemas.microsoft.com/office/drawing/2014/main" id="{A67554C3-5515-E884-1EA5-F510C39D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03" y="1056072"/>
            <a:ext cx="5989326" cy="20812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DBD7205-E536-4134-8768-AC3E1A3C5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图片 10" descr="表格&#10;&#10;AI 生成的内容可能不正确。">
            <a:extLst>
              <a:ext uri="{FF2B5EF4-FFF2-40B4-BE49-F238E27FC236}">
                <a16:creationId xmlns:a16="http://schemas.microsoft.com/office/drawing/2014/main" id="{AF7B434F-E637-589A-3EB0-E09D50151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354" y="4225374"/>
            <a:ext cx="2871216" cy="1545616"/>
          </a:xfrm>
          <a:prstGeom prst="rect">
            <a:avLst/>
          </a:prstGeom>
        </p:spPr>
      </p:pic>
      <p:pic>
        <p:nvPicPr>
          <p:cNvPr id="13" name="图片 12" descr="表格&#10;&#10;AI 生成的内容可能不正确。">
            <a:extLst>
              <a:ext uri="{FF2B5EF4-FFF2-40B4-BE49-F238E27FC236}">
                <a16:creationId xmlns:a16="http://schemas.microsoft.com/office/drawing/2014/main" id="{275FCB55-5BF5-0C63-A3A9-D2A5404EB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013" y="4341391"/>
            <a:ext cx="2871216" cy="131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96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35449-CA1A-373E-2390-AA76D62E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523A1BB-2085-2549-7BDB-90E39574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实验结果与对比</a:t>
            </a:r>
            <a:endParaRPr lang="en-US" altLang="zh-CN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内容占位符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BDFF5CB-85CB-2768-04D4-9A2866B5C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2236566"/>
            <a:ext cx="10905066" cy="327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84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EF55D-4E87-C73A-AB3B-969A567E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500B9A-6BAD-4BEC-B345-33E9252C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实验结果与对比</a:t>
            </a:r>
            <a:endParaRPr lang="en-US" altLang="zh-CN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内容占位符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831DE3F-96E1-89DC-C5D8-9D5A9CEF0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8698" y="1675227"/>
            <a:ext cx="987460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A926B55-69AD-D292-C202-54FB1EEC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FFFFFF"/>
                </a:solidFill>
              </a:rPr>
              <a:t>WSI</a:t>
            </a:r>
            <a:r>
              <a:rPr lang="zh-CN" altLang="en-US" b="1">
                <a:solidFill>
                  <a:srgbClr val="FFFFFF"/>
                </a:solidFill>
              </a:rPr>
              <a:t>生存预测综述概览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23C34-C49D-3452-CD93-6231105DE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b="1" dirty="0"/>
              <a:t>论文题目：</a:t>
            </a:r>
            <a:r>
              <a:rPr lang="zh-CN" altLang="en-US" dirty="0"/>
              <a:t> </a:t>
            </a:r>
            <a:r>
              <a:rPr lang="en-US" altLang="zh-CN" dirty="0"/>
              <a:t>Deep Learning Based Methods in Whole Slide Image Survival Prediction: A Survey</a:t>
            </a:r>
            <a:br>
              <a:rPr lang="en-US" altLang="zh-CN" dirty="0"/>
            </a:br>
            <a:r>
              <a:rPr lang="zh-CN" altLang="en-US" b="1" dirty="0"/>
              <a:t>核心贡献：</a:t>
            </a:r>
            <a:endParaRPr lang="zh-CN" altLang="en-US" dirty="0"/>
          </a:p>
          <a:p>
            <a:r>
              <a:rPr lang="zh-CN" altLang="en-US" dirty="0"/>
              <a:t>系统梳理了</a:t>
            </a:r>
            <a:r>
              <a:rPr lang="en-US" altLang="zh-CN" dirty="0"/>
              <a:t>WSI</a:t>
            </a:r>
            <a:r>
              <a:rPr lang="zh-CN" altLang="en-US" dirty="0"/>
              <a:t>生存预测的主流方法</a:t>
            </a:r>
          </a:p>
          <a:p>
            <a:r>
              <a:rPr lang="zh-CN" altLang="en-US" dirty="0"/>
              <a:t>提出通用三阶段框架：特征提取 → 特征聚合 → 生存分析</a:t>
            </a:r>
          </a:p>
          <a:p>
            <a:r>
              <a:rPr lang="zh-CN" altLang="en-US" dirty="0"/>
              <a:t>统一实验设置下对比</a:t>
            </a:r>
            <a:r>
              <a:rPr lang="en-US" altLang="zh-CN" dirty="0"/>
              <a:t>9</a:t>
            </a:r>
            <a:r>
              <a:rPr lang="zh-CN" altLang="en-US" dirty="0"/>
              <a:t>种</a:t>
            </a:r>
            <a:r>
              <a:rPr lang="en-US" altLang="zh-CN" dirty="0"/>
              <a:t>SOTA</a:t>
            </a:r>
            <a:r>
              <a:rPr lang="zh-CN" altLang="en-US" dirty="0"/>
              <a:t>方法</a:t>
            </a:r>
          </a:p>
          <a:p>
            <a:r>
              <a:rPr lang="zh-CN" altLang="en-US" dirty="0"/>
              <a:t>探讨多模态融合与模型可解释性</a:t>
            </a:r>
          </a:p>
        </p:txBody>
      </p:sp>
    </p:spTree>
    <p:extLst>
      <p:ext uri="{BB962C8B-B14F-4D97-AF65-F5344CB8AC3E}">
        <p14:creationId xmlns:p14="http://schemas.microsoft.com/office/powerpoint/2010/main" val="4080901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74DC37-F551-A859-78AB-B5E00C24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altLang="zh-CN" sz="5000" b="1"/>
              <a:t>WSI</a:t>
            </a:r>
            <a:r>
              <a:rPr lang="zh-CN" altLang="en-US" sz="5000" b="1"/>
              <a:t>生存预测通用框架</a:t>
            </a:r>
            <a:endParaRPr lang="zh-CN" altLang="en-US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AF7E6-EAF0-99A7-64CC-AE9B52E9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zh-CN" altLang="en-US" sz="1900" b="1"/>
              <a:t>阶段一：图像特征提取</a:t>
            </a:r>
            <a:endParaRPr lang="zh-CN" altLang="en-US" sz="1900"/>
          </a:p>
          <a:p>
            <a:pPr lvl="1"/>
            <a:r>
              <a:rPr lang="zh-CN" altLang="en-US" sz="1900"/>
              <a:t>手动</a:t>
            </a:r>
            <a:r>
              <a:rPr lang="en-US" altLang="zh-CN" sz="1900"/>
              <a:t>/</a:t>
            </a:r>
            <a:r>
              <a:rPr lang="zh-CN" altLang="en-US" sz="1900"/>
              <a:t>自动</a:t>
            </a:r>
            <a:r>
              <a:rPr lang="en-US" altLang="zh-CN" sz="1900"/>
              <a:t>patch</a:t>
            </a:r>
            <a:r>
              <a:rPr lang="zh-CN" altLang="en-US" sz="1900"/>
              <a:t>采样 </a:t>
            </a:r>
            <a:r>
              <a:rPr lang="en-US" altLang="zh-CN" sz="1900"/>
              <a:t>+ </a:t>
            </a:r>
            <a:r>
              <a:rPr lang="zh-CN" altLang="en-US" sz="1900"/>
              <a:t>预训练模型（</a:t>
            </a:r>
            <a:r>
              <a:rPr lang="en-US" altLang="zh-CN" sz="1900"/>
              <a:t>ImageNet / </a:t>
            </a:r>
            <a:r>
              <a:rPr lang="zh-CN" altLang="en-US" sz="1900"/>
              <a:t>自监督）</a:t>
            </a:r>
          </a:p>
          <a:p>
            <a:r>
              <a:rPr lang="zh-CN" altLang="en-US" sz="1900" b="1"/>
              <a:t>阶段二：特征聚合</a:t>
            </a:r>
            <a:endParaRPr lang="zh-CN" altLang="en-US" sz="1900"/>
          </a:p>
          <a:p>
            <a:pPr lvl="1"/>
            <a:r>
              <a:rPr lang="zh-CN" altLang="en-US" sz="1900"/>
              <a:t>简单方法 </a:t>
            </a:r>
            <a:r>
              <a:rPr lang="en-US" altLang="zh-CN" sz="1900"/>
              <a:t>/ CNN / </a:t>
            </a:r>
            <a:r>
              <a:rPr lang="zh-CN" altLang="en-US" sz="1900"/>
              <a:t>注意力 </a:t>
            </a:r>
            <a:r>
              <a:rPr lang="en-US" altLang="zh-CN" sz="1900"/>
              <a:t>/ Transformer / GNN / </a:t>
            </a:r>
            <a:r>
              <a:rPr lang="zh-CN" altLang="en-US" sz="1900"/>
              <a:t>金字塔结构</a:t>
            </a:r>
          </a:p>
          <a:p>
            <a:r>
              <a:rPr lang="zh-CN" altLang="en-US" sz="1900" b="1"/>
              <a:t>阶段三：生存分析</a:t>
            </a:r>
            <a:endParaRPr lang="zh-CN" altLang="en-US" sz="1900"/>
          </a:p>
          <a:p>
            <a:pPr lvl="1"/>
            <a:r>
              <a:rPr lang="en-US" altLang="zh-CN" sz="1900"/>
              <a:t>Cox</a:t>
            </a:r>
            <a:r>
              <a:rPr lang="zh-CN" altLang="en-US" sz="1900"/>
              <a:t>模型 </a:t>
            </a:r>
            <a:r>
              <a:rPr lang="en-US" altLang="zh-CN" sz="1900"/>
              <a:t>+ NLLP</a:t>
            </a:r>
            <a:r>
              <a:rPr lang="zh-CN" altLang="en-US" sz="1900"/>
              <a:t>损失 </a:t>
            </a:r>
            <a:r>
              <a:rPr lang="en-US" altLang="zh-CN" sz="1900"/>
              <a:t>+ C-index</a:t>
            </a:r>
            <a:r>
              <a:rPr lang="zh-CN" altLang="en-US" sz="1900"/>
              <a:t>评估</a:t>
            </a:r>
            <a:endParaRPr lang="en-US" altLang="zh-CN" sz="1900"/>
          </a:p>
          <a:p>
            <a:pPr lvl="1"/>
            <a:endParaRPr lang="zh-CN" altLang="en-US" sz="1900"/>
          </a:p>
          <a:p>
            <a:endParaRPr lang="zh-CN" altLang="en-US" sz="1900"/>
          </a:p>
        </p:txBody>
      </p:sp>
      <p:pic>
        <p:nvPicPr>
          <p:cNvPr id="5" name="图片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75174F53-E5BC-9ABE-C38B-46175B70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82775"/>
            <a:ext cx="6903720" cy="26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095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05EA0-FA99-D7C1-E2C3-0F62755F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88DBBF-E8F5-C87E-4EEE-DDA4D8E7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5400" kern="1200">
                <a:latin typeface="+mj-lt"/>
                <a:ea typeface="+mj-ea"/>
                <a:cs typeface="+mj-cs"/>
              </a:rPr>
              <a:t>Cox</a:t>
            </a:r>
            <a:r>
              <a:rPr lang="zh-CN" altLang="en-US" sz="5400" kern="1200">
                <a:latin typeface="+mj-lt"/>
                <a:ea typeface="+mj-ea"/>
                <a:cs typeface="+mj-cs"/>
              </a:rPr>
              <a:t>模型 </a:t>
            </a:r>
            <a:r>
              <a:rPr lang="en-US" altLang="zh-CN" sz="5400" kern="1200">
                <a:latin typeface="+mj-lt"/>
                <a:ea typeface="+mj-ea"/>
                <a:cs typeface="+mj-cs"/>
              </a:rPr>
              <a:t>+ NLLP</a:t>
            </a:r>
            <a:r>
              <a:rPr lang="zh-CN" altLang="en-US" sz="5400" kern="1200">
                <a:latin typeface="+mj-lt"/>
                <a:ea typeface="+mj-ea"/>
                <a:cs typeface="+mj-cs"/>
              </a:rPr>
              <a:t>损失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BD28297-B262-E686-EE9C-446636245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8" name="内容占位符 7" descr="文本, 信件&#10;&#10;AI 生成的内容可能不正确。">
            <a:extLst>
              <a:ext uri="{FF2B5EF4-FFF2-40B4-BE49-F238E27FC236}">
                <a16:creationId xmlns:a16="http://schemas.microsoft.com/office/drawing/2014/main" id="{AC539214-0B48-D5D4-01DD-77B16B8EB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900512"/>
            <a:ext cx="6903720" cy="505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93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EE928-0437-3545-F3F3-B7D05340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2060F2-7291-27A4-51FB-C4F20968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5400" kern="1200">
                <a:latin typeface="+mj-lt"/>
                <a:ea typeface="+mj-ea"/>
                <a:cs typeface="+mj-cs"/>
              </a:rPr>
              <a:t>Cox</a:t>
            </a:r>
            <a:r>
              <a:rPr lang="zh-CN" altLang="en-US" sz="5400" kern="1200">
                <a:latin typeface="+mj-lt"/>
                <a:ea typeface="+mj-ea"/>
                <a:cs typeface="+mj-cs"/>
              </a:rPr>
              <a:t>模型 </a:t>
            </a:r>
            <a:r>
              <a:rPr lang="en-US" altLang="zh-CN" sz="5400" kern="1200">
                <a:latin typeface="+mj-lt"/>
                <a:ea typeface="+mj-ea"/>
                <a:cs typeface="+mj-cs"/>
              </a:rPr>
              <a:t>+ NLLP</a:t>
            </a:r>
            <a:r>
              <a:rPr lang="zh-CN" altLang="en-US" sz="5400" kern="1200">
                <a:latin typeface="+mj-lt"/>
                <a:ea typeface="+mj-ea"/>
                <a:cs typeface="+mj-cs"/>
              </a:rPr>
              <a:t>损失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124D0FC6-E9E8-876E-59E3-800A380C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30" name="内容占位符 29" descr="文本, 信件&#10;&#10;AI 生成的内容可能不正确。">
            <a:extLst>
              <a:ext uri="{FF2B5EF4-FFF2-40B4-BE49-F238E27FC236}">
                <a16:creationId xmlns:a16="http://schemas.microsoft.com/office/drawing/2014/main" id="{A0A889AA-0FD0-D1EF-3150-135C7D723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599" y="640080"/>
            <a:ext cx="525711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54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906227A-C9F7-7D8D-F9D7-33F28292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5400" kern="1200">
                <a:latin typeface="+mj-lt"/>
                <a:ea typeface="+mj-ea"/>
                <a:cs typeface="+mj-cs"/>
              </a:rPr>
              <a:t>C-index </a:t>
            </a:r>
            <a:r>
              <a:rPr lang="zh-CN" altLang="en-US" sz="5400" kern="1200">
                <a:latin typeface="+mj-lt"/>
                <a:ea typeface="+mj-ea"/>
                <a:cs typeface="+mj-cs"/>
              </a:rPr>
              <a:t>评估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B2F28E8-7D75-15BE-79FB-9EC3E1FC6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13" name="内容占位符 12" descr="文本, 信件&#10;&#10;AI 生成的内容可能不正确。">
            <a:extLst>
              <a:ext uri="{FF2B5EF4-FFF2-40B4-BE49-F238E27FC236}">
                <a16:creationId xmlns:a16="http://schemas.microsoft.com/office/drawing/2014/main" id="{8B8F9EC7-11E9-91C0-419D-3D9DD4CC9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547736"/>
            <a:ext cx="6903720" cy="3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7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923D9-C04B-4083-F4D4-986C9800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zh-CN" altLang="en-US" sz="3200" b="1"/>
              <a:t>实验对比结果</a:t>
            </a:r>
            <a:endParaRPr lang="zh-CN" altLang="en-US" sz="32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2A3F0D-913B-C0CB-98CA-B572C792F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zh-CN" altLang="en-US" sz="1000" dirty="0"/>
              <a:t>数据集：</a:t>
            </a:r>
            <a:r>
              <a:rPr lang="en-US" altLang="zh-CN" sz="1000" dirty="0"/>
              <a:t>TCGA</a:t>
            </a:r>
            <a:r>
              <a:rPr lang="zh-CN" altLang="en-US" sz="1000" dirty="0"/>
              <a:t>（</a:t>
            </a:r>
            <a:r>
              <a:rPr lang="en-US" altLang="zh-CN" sz="1000" dirty="0"/>
              <a:t>BLCA, BRCA, LUAD, GBMLLGG, UCEC</a:t>
            </a:r>
            <a:r>
              <a:rPr lang="zh-CN" altLang="en-US" sz="1000" dirty="0"/>
              <a:t>）</a:t>
            </a:r>
          </a:p>
          <a:p>
            <a:r>
              <a:rPr lang="zh-CN" altLang="en-US" sz="1000" dirty="0"/>
              <a:t>对比方法：</a:t>
            </a:r>
            <a:r>
              <a:rPr lang="en-US" altLang="zh-CN" sz="1000" dirty="0"/>
              <a:t>Patch-GCN, MCAT, PORPOISE, HGCN </a:t>
            </a:r>
            <a:r>
              <a:rPr lang="zh-CN" altLang="en-US" sz="1000" dirty="0"/>
              <a:t>等</a:t>
            </a:r>
          </a:p>
          <a:p>
            <a:r>
              <a:rPr lang="zh-CN" altLang="en-US" sz="1000" dirty="0"/>
              <a:t>指标：</a:t>
            </a:r>
            <a:r>
              <a:rPr lang="en-US" altLang="zh-CN" sz="1000" dirty="0"/>
              <a:t>C-Index</a:t>
            </a:r>
            <a:endParaRPr lang="zh-CN" altLang="en-US" sz="1000" dirty="0"/>
          </a:p>
          <a:p>
            <a:r>
              <a:rPr lang="zh-CN" altLang="en-US" sz="1000" dirty="0"/>
              <a:t>结论：</a:t>
            </a:r>
          </a:p>
          <a:p>
            <a:pPr lvl="1"/>
            <a:r>
              <a:rPr lang="en-US" altLang="zh-CN" sz="1000" dirty="0"/>
              <a:t>PORPOISE</a:t>
            </a:r>
            <a:r>
              <a:rPr lang="zh-CN" altLang="en-US" sz="1000" dirty="0"/>
              <a:t>、</a:t>
            </a:r>
            <a:r>
              <a:rPr lang="en-US" altLang="zh-CN" sz="1000" dirty="0"/>
              <a:t>MCAT</a:t>
            </a:r>
            <a:r>
              <a:rPr lang="zh-CN" altLang="en-US" sz="1000" dirty="0"/>
              <a:t>表现最优</a:t>
            </a:r>
          </a:p>
          <a:p>
            <a:pPr lvl="1"/>
            <a:r>
              <a:rPr lang="en-US" altLang="zh-CN" sz="1000" dirty="0"/>
              <a:t>GBMLLGG</a:t>
            </a:r>
            <a:r>
              <a:rPr lang="zh-CN" altLang="en-US" sz="1000" dirty="0"/>
              <a:t>数据集最简单，所有模型表现良好</a:t>
            </a: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C7AFA6EB-9AAF-72BE-851D-D62E9E29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272" y="2734056"/>
            <a:ext cx="9415847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66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C33319-9FB4-6273-1B16-7D091BE6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总结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05C4E-44FE-C90A-0274-9BFD8DAAC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三篇论文共同构建了从</a:t>
            </a:r>
            <a:r>
              <a:rPr lang="zh-CN" altLang="en-US" b="1" dirty="0"/>
              <a:t>图像预处理 → 特征建模 → 下游任务</a:t>
            </a:r>
            <a:r>
              <a:rPr lang="zh-CN" altLang="en-US" dirty="0"/>
              <a:t>的完整研究链条</a:t>
            </a:r>
          </a:p>
          <a:p>
            <a:r>
              <a:rPr lang="en-US" altLang="zh-CN" dirty="0" err="1"/>
              <a:t>SAStainDiff</a:t>
            </a:r>
            <a:r>
              <a:rPr lang="en-US" altLang="zh-CN" dirty="0"/>
              <a:t> </a:t>
            </a:r>
            <a:r>
              <a:rPr lang="zh-CN" altLang="en-US" dirty="0"/>
              <a:t>解决染色差异问题</a:t>
            </a:r>
          </a:p>
          <a:p>
            <a:r>
              <a:rPr lang="en-US" altLang="zh-CN" dirty="0"/>
              <a:t>WaveU3S </a:t>
            </a:r>
            <a:r>
              <a:rPr lang="zh-CN" altLang="en-US" dirty="0"/>
              <a:t>提升</a:t>
            </a:r>
            <a:r>
              <a:rPr lang="en-US" altLang="zh-CN" dirty="0"/>
              <a:t>3D</a:t>
            </a:r>
            <a:r>
              <a:rPr lang="zh-CN" altLang="en-US" dirty="0"/>
              <a:t>分割效率</a:t>
            </a:r>
          </a:p>
          <a:p>
            <a:r>
              <a:rPr lang="en-US" altLang="zh-CN" dirty="0"/>
              <a:t>WSI</a:t>
            </a:r>
            <a:r>
              <a:rPr lang="zh-CN" altLang="en-US" dirty="0"/>
              <a:t>综述为后续研究提供系统性指导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867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3E44D0-C55B-9D8A-1A0D-2817C190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未来展望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8A165D-15A0-9095-C925-7E2C1E18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多模态融合（病理</a:t>
            </a:r>
            <a:r>
              <a:rPr lang="en-US" altLang="zh-CN" dirty="0"/>
              <a:t>+</a:t>
            </a:r>
            <a:r>
              <a:rPr lang="zh-CN" altLang="en-US" dirty="0"/>
              <a:t>基因组</a:t>
            </a:r>
            <a:r>
              <a:rPr lang="en-US" altLang="zh-CN" dirty="0"/>
              <a:t>+</a:t>
            </a:r>
            <a:r>
              <a:rPr lang="zh-CN" altLang="en-US" dirty="0"/>
              <a:t>临床）</a:t>
            </a:r>
          </a:p>
          <a:p>
            <a:r>
              <a:rPr lang="zh-CN" altLang="en-US" dirty="0"/>
              <a:t>模型可解释性与可视化工具</a:t>
            </a:r>
          </a:p>
          <a:p>
            <a:r>
              <a:rPr lang="zh-CN" altLang="en-US" dirty="0"/>
              <a:t>自监督学习与扩散模型在病理图像中的深入应用</a:t>
            </a:r>
          </a:p>
          <a:p>
            <a:r>
              <a:rPr lang="zh-CN" altLang="en-US" dirty="0"/>
              <a:t>推动算法落地临床，辅助病理医生诊断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546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50085F-9D98-8326-DB7E-C7795DB25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致谢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F69923-007E-6319-E30E-D7D67899C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感谢导师的指导与支持</a:t>
            </a:r>
            <a:br>
              <a:rPr lang="zh-CN" altLang="en-US" dirty="0"/>
            </a:br>
            <a:r>
              <a:rPr lang="zh-CN" altLang="en-US" dirty="0"/>
              <a:t>感谢实验室同学的帮助</a:t>
            </a:r>
            <a:br>
              <a:rPr lang="zh-CN" altLang="en-US" dirty="0"/>
            </a:br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8180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5047</TotalTime>
  <Words>6262</Words>
  <Application>Microsoft Office PowerPoint</Application>
  <PresentationFormat>宽屏</PresentationFormat>
  <Paragraphs>390</Paragraphs>
  <Slides>30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等线 Light</vt:lpstr>
      <vt:lpstr>Arial</vt:lpstr>
      <vt:lpstr>Calibri</vt:lpstr>
      <vt:lpstr>Cambria Math</vt:lpstr>
      <vt:lpstr>Office 主题​​</vt:lpstr>
      <vt:lpstr>深度学习在病理图像分析中的研究进展</vt:lpstr>
      <vt:lpstr>汇报大纲</vt:lpstr>
      <vt:lpstr>研究背景</vt:lpstr>
      <vt:lpstr>染色归一化新方法：SAStainDiff</vt:lpstr>
      <vt:lpstr>SAStainDiff 方法框架</vt:lpstr>
      <vt:lpstr>SAStainDiff 方法框架</vt:lpstr>
      <vt:lpstr>SAStainDiff 方法框架</vt:lpstr>
      <vt:lpstr>SAStainDiff 方法框架</vt:lpstr>
      <vt:lpstr>染色增强流程</vt:lpstr>
      <vt:lpstr>SAStainDiff 方法框架</vt:lpstr>
      <vt:lpstr>实验结果对比</vt:lpstr>
      <vt:lpstr>实验结果对比</vt:lpstr>
      <vt:lpstr>实验结果对比</vt:lpstr>
      <vt:lpstr>实验结果对比</vt:lpstr>
      <vt:lpstr>轻量化3D分割模型：WaveU3S</vt:lpstr>
      <vt:lpstr>WaveU3S 网络结构</vt:lpstr>
      <vt:lpstr>WaveU3S 网络结构</vt:lpstr>
      <vt:lpstr>实验结果与对比</vt:lpstr>
      <vt:lpstr>实验结果与对比</vt:lpstr>
      <vt:lpstr>实验结果与对比</vt:lpstr>
      <vt:lpstr>实验结果与对比</vt:lpstr>
      <vt:lpstr>WSI生存预测综述概览</vt:lpstr>
      <vt:lpstr>WSI生存预测通用框架</vt:lpstr>
      <vt:lpstr>Cox模型 + NLLP损失</vt:lpstr>
      <vt:lpstr>Cox模型 + NLLP损失</vt:lpstr>
      <vt:lpstr>C-index 评估</vt:lpstr>
      <vt:lpstr>实验对比结果</vt:lpstr>
      <vt:lpstr>总结</vt:lpstr>
      <vt:lpstr>未来展望</vt:lpstr>
      <vt:lpstr>致谢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school</dc:creator>
  <cp:lastModifiedBy>school</cp:lastModifiedBy>
  <cp:revision>146</cp:revision>
  <dcterms:created xsi:type="dcterms:W3CDTF">2026-02-23T13:49:27Z</dcterms:created>
  <dcterms:modified xsi:type="dcterms:W3CDTF">2026-02-28T03:14:16Z</dcterms:modified>
</cp:coreProperties>
</file>